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7" r:id="rId4"/>
    <p:sldId id="260" r:id="rId5"/>
    <p:sldId id="259" r:id="rId6"/>
    <p:sldId id="269" r:id="rId7"/>
    <p:sldId id="262" r:id="rId8"/>
    <p:sldId id="279" r:id="rId9"/>
    <p:sldId id="270" r:id="rId10"/>
    <p:sldId id="272" r:id="rId11"/>
    <p:sldId id="263" r:id="rId12"/>
    <p:sldId id="277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09297A-8C6E-5A4B-9F36-F3B9D2326324}" v="1836" dt="2026-04-20T23:12:49.008"/>
    <p1510:client id="{3ADB42FF-4BCD-8493-FD7F-73591C8B2CAA}" v="37" dt="2026-04-20T06:45:31.273"/>
    <p1510:client id="{AA842A69-01B3-6C2A-BEBD-FC29947BC625}" v="3" dt="2026-04-20T06:49:05.1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88"/>
  </p:normalViewPr>
  <p:slideViewPr>
    <p:cSldViewPr snapToGrid="0">
      <p:cViewPr varScale="1">
        <p:scale>
          <a:sx n="160" d="100"/>
          <a:sy n="160" d="100"/>
        </p:scale>
        <p:origin x="16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B0BDD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B0BDD0"/>
                </a:solidFill>
                <a:latin typeface="Arial"/>
              </a:rPr>
              <a:t>Adults Under 35 Who Drink Alcohol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Adults Under 35 Who Drink</c:v>
                </c:pt>
              </c:strCache>
            </c:strRef>
          </c:tx>
          <c:spPr>
            <a:ln w="38100" cap="flat">
              <a:solidFill>
                <a:srgbClr val="F9612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96127"/>
              </a:solidFill>
              <a:ln w="9525" cap="flat">
                <a:solidFill>
                  <a:srgbClr val="F96127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2001–03</c:v>
                </c:pt>
                <c:pt idx="1">
                  <c:v>~2009</c:v>
                </c:pt>
                <c:pt idx="2">
                  <c:v>~2015</c:v>
                </c:pt>
                <c:pt idx="3">
                  <c:v>~2019</c:v>
                </c:pt>
                <c:pt idx="4">
                  <c:v>2021–23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</c:v>
                </c:pt>
                <c:pt idx="1">
                  <c:v>68</c:v>
                </c:pt>
                <c:pt idx="2">
                  <c:v>66</c:v>
                </c:pt>
                <c:pt idx="3">
                  <c:v>64</c:v>
                </c:pt>
                <c:pt idx="4">
                  <c:v>62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BFA-A44F-A4FE-4634F714EB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0BD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55"/>
        </c:scaling>
        <c:delete val="0"/>
        <c:axPos val="l"/>
        <c:majorGridlines>
          <c:spPr>
            <a:ln w="6350" cap="flat">
              <a:solidFill>
                <a:srgbClr val="2A3F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0BD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D4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E2D4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B0BDD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B0BDD0"/>
                </a:solidFill>
                <a:latin typeface="Arial"/>
              </a:rPr>
              <a:t>U.S. Energy Drink Sales  ($B) – YoY</a:t>
            </a:r>
            <a:r>
              <a:rPr lang="en-US" sz="1100" b="0" i="0" u="none" strike="noStrike" baseline="0">
                <a:solidFill>
                  <a:srgbClr val="B0BDD0"/>
                </a:solidFill>
                <a:latin typeface="Arial"/>
              </a:rPr>
              <a:t> Growth 11%</a:t>
            </a:r>
            <a:endParaRPr lang="en-US" sz="1100" b="0" i="0" u="none" strike="noStrike">
              <a:solidFill>
                <a:srgbClr val="B0BDD0"/>
              </a:solidFill>
              <a:latin typeface="Arial"/>
            </a:endParaRP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spPr>
            <a:solidFill>
              <a:srgbClr val="F9612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14.2</c:v>
                </c:pt>
                <c:pt idx="1">
                  <c:v>15.8</c:v>
                </c:pt>
                <c:pt idx="2">
                  <c:v>17.5</c:v>
                </c:pt>
                <c:pt idx="3">
                  <c:v>19.8</c:v>
                </c:pt>
                <c:pt idx="4">
                  <c:v>22.1</c:v>
                </c:pt>
                <c:pt idx="5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3A-F646-9C71-ABBB17E593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BD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BD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D4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E2D4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Revenue ($M) — Explosive Growth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E4D8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5C9-154A-B9BE-0CB3F7F01566}"/>
              </c:ext>
            </c:extLst>
          </c:dPt>
          <c:dPt>
            <c:idx val="1"/>
            <c:invertIfNegative val="0"/>
            <c:bubble3D val="0"/>
            <c:spPr>
              <a:solidFill>
                <a:srgbClr val="1E6B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5C9-154A-B9BE-0CB3F7F01566}"/>
              </c:ext>
            </c:extLst>
          </c:dPt>
          <c:dPt>
            <c:idx val="2"/>
            <c:invertIfNegative val="0"/>
            <c:bubble3D val="0"/>
            <c:spPr>
              <a:solidFill>
                <a:srgbClr val="E840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5C9-154A-B9BE-0CB3F7F01566}"/>
              </c:ext>
            </c:extLst>
          </c:dPt>
          <c:dPt>
            <c:idx val="3"/>
            <c:invertIfNegative val="0"/>
            <c:bubble3D val="0"/>
            <c:spPr>
              <a:solidFill>
                <a:srgbClr val="F961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5C9-154A-B9BE-0CB3F7F01566}"/>
              </c:ext>
            </c:extLst>
          </c:dPt>
          <c:dPt>
            <c:idx val="4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5C9-154A-B9BE-0CB3F7F0156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315</c:v>
                </c:pt>
                <c:pt idx="1">
                  <c:v>654</c:v>
                </c:pt>
                <c:pt idx="2">
                  <c:v>1318</c:v>
                </c:pt>
                <c:pt idx="3">
                  <c:v>1356</c:v>
                </c:pt>
                <c:pt idx="4">
                  <c:v>2515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5C9-154A-B9BE-0CB3F7F015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D4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D4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Revenue ($M) — Explosive Growth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E4D8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5C9-154A-B9BE-0CB3F7F01566}"/>
              </c:ext>
            </c:extLst>
          </c:dPt>
          <c:dPt>
            <c:idx val="1"/>
            <c:invertIfNegative val="0"/>
            <c:bubble3D val="0"/>
            <c:spPr>
              <a:solidFill>
                <a:srgbClr val="1E6B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5C9-154A-B9BE-0CB3F7F01566}"/>
              </c:ext>
            </c:extLst>
          </c:dPt>
          <c:dPt>
            <c:idx val="2"/>
            <c:invertIfNegative val="0"/>
            <c:bubble3D val="0"/>
            <c:spPr>
              <a:solidFill>
                <a:srgbClr val="E840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5C9-154A-B9BE-0CB3F7F01566}"/>
              </c:ext>
            </c:extLst>
          </c:dPt>
          <c:dPt>
            <c:idx val="3"/>
            <c:invertIfNegative val="0"/>
            <c:bubble3D val="0"/>
            <c:spPr>
              <a:solidFill>
                <a:srgbClr val="F961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5C9-154A-B9BE-0CB3F7F01566}"/>
              </c:ext>
            </c:extLst>
          </c:dPt>
          <c:dPt>
            <c:idx val="4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5C9-154A-B9BE-0CB3F7F0156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315</c:v>
                </c:pt>
                <c:pt idx="1">
                  <c:v>654</c:v>
                </c:pt>
                <c:pt idx="2">
                  <c:v>1318</c:v>
                </c:pt>
                <c:pt idx="3">
                  <c:v>1356</c:v>
                </c:pt>
                <c:pt idx="4">
                  <c:v>2515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5C9-154A-B9BE-0CB3F7F015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D4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D4E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Revenue ($M) — Explosive Growth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E4D8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5C9-154A-B9BE-0CB3F7F01566}"/>
              </c:ext>
            </c:extLst>
          </c:dPt>
          <c:dPt>
            <c:idx val="1"/>
            <c:invertIfNegative val="0"/>
            <c:bubble3D val="0"/>
            <c:spPr>
              <a:solidFill>
                <a:srgbClr val="1E6B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5C9-154A-B9BE-0CB3F7F01566}"/>
              </c:ext>
            </c:extLst>
          </c:dPt>
          <c:dPt>
            <c:idx val="2"/>
            <c:invertIfNegative val="0"/>
            <c:bubble3D val="0"/>
            <c:spPr>
              <a:solidFill>
                <a:srgbClr val="E840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5C9-154A-B9BE-0CB3F7F01566}"/>
              </c:ext>
            </c:extLst>
          </c:dPt>
          <c:dPt>
            <c:idx val="3"/>
            <c:invertIfNegative val="0"/>
            <c:bubble3D val="0"/>
            <c:spPr>
              <a:solidFill>
                <a:srgbClr val="F961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5C9-154A-B9BE-0CB3F7F01566}"/>
              </c:ext>
            </c:extLst>
          </c:dPt>
          <c:dPt>
            <c:idx val="4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5C9-154A-B9BE-0CB3F7F0156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315</c:v>
                </c:pt>
                <c:pt idx="1">
                  <c:v>654</c:v>
                </c:pt>
                <c:pt idx="2">
                  <c:v>1318</c:v>
                </c:pt>
                <c:pt idx="3">
                  <c:v>1356</c:v>
                </c:pt>
                <c:pt idx="4">
                  <c:v>2515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5C9-154A-B9BE-0CB3F7F015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D4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D4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7970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079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4232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6C308-6EE2-92B7-EC21-5F2197817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59B68E-824C-F25C-B811-89C4DA844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2ACBA2-9F73-1374-2550-D455404C3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CDD80-6F80-5963-AEF1-170C062645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545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DE573-14BF-9511-0CC8-7106F250D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718104-56DD-F998-172F-E4B58D9D5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98134C-B001-621C-8515-AF7C5A05D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8E6C6-4EDC-ECDE-12D4-90836F3897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3376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CAB3B-B67E-1CA6-CF15-0704FC173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BA9736-86E0-D632-0EA0-450FBBA2A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001631-C44F-3C7E-B9B3-FBF6DBEAD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36697-D867-CB5F-100D-886F33EB49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01991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40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>
                <a:solidFill>
                  <a:srgbClr val="E84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CELH</a:t>
            </a:r>
            <a:endParaRPr lang="en-US" sz="8000"/>
          </a:p>
        </p:txBody>
      </p:sp>
      <p:sp>
        <p:nvSpPr>
          <p:cNvPr id="4" name="Text 2"/>
          <p:cNvSpPr/>
          <p:nvPr/>
        </p:nvSpPr>
        <p:spPr>
          <a:xfrm>
            <a:off x="365760" y="1737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Celsius Holdings, Inc.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65760" y="2240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PITCH — EQUITY RESEARCH PRESENTATION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65760" y="2651760"/>
            <a:ext cx="3657600" cy="27432"/>
          </a:xfrm>
          <a:prstGeom prst="rect">
            <a:avLst/>
          </a:prstGeom>
          <a:solidFill>
            <a:srgbClr val="F961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96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| Current Price ~35 | Target: $75–$85  |  ~100% Upside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Secular growth in functional beverages — not cyclical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513323" y="1097280"/>
            <a:ext cx="2194560" cy="3200400"/>
          </a:xfrm>
          <a:prstGeom prst="rect">
            <a:avLst/>
          </a:prstGeom>
          <a:solidFill>
            <a:srgbClr val="1E2D4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513323" y="1188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>
                <a:solidFill>
                  <a:srgbClr val="E84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SNAPSHOT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9559043" y="1554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10519163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~$35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9559043" y="1874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 Cap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10519163" y="1874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$9.1B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9559043" y="2194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52W Range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10519163" y="2194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$32–$67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9559043" y="2514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 (TTM)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10519163" y="2514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~141x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9559043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 P/E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10519163" y="2834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~38x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9559043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10519163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1.12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9559043" y="3474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(2025)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10519163" y="3474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$2.52B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9513323" y="42976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April 2026</a:t>
            </a:r>
            <a:endParaRPr lang="en-US" sz="80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88C1178-8BD1-4A14-3949-A7E0085DF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3429000"/>
            <a:ext cx="4453675" cy="1519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40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143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Environment </a:t>
            </a:r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avors Secular </a:t>
            </a:r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onsumer </a:t>
            </a:r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taples</a:t>
            </a:r>
            <a:endParaRPr lang="en-US" sz="1800"/>
          </a:p>
        </p:txBody>
      </p:sp>
      <p:sp>
        <p:nvSpPr>
          <p:cNvPr id="5" name="Shape 3"/>
          <p:cNvSpPr/>
          <p:nvPr/>
        </p:nvSpPr>
        <p:spPr>
          <a:xfrm>
            <a:off x="274320" y="553212"/>
            <a:ext cx="2743200" cy="1817370"/>
          </a:xfrm>
          <a:prstGeom prst="rect">
            <a:avLst/>
          </a:prstGeom>
          <a:solidFill>
            <a:srgbClr val="1E2D4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553212"/>
            <a:ext cx="2743200" cy="54864"/>
          </a:xfrm>
          <a:prstGeom prst="rect">
            <a:avLst/>
          </a:prstGeom>
          <a:solidFill>
            <a:srgbClr val="E840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6903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E84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ENVIRONMENT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365760" y="1101852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rates stabilize, fall, or rise. Stocks with predictable earnings streams like tobacco, alcohol, food, beverages, personal care, </a:t>
            </a:r>
            <a:r>
              <a:rPr lang="en-US" sz="115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rate-sensitive cyclicals — benefit the most.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3154680" y="553212"/>
            <a:ext cx="2743200" cy="1817370"/>
          </a:xfrm>
          <a:prstGeom prst="rect">
            <a:avLst/>
          </a:prstGeom>
          <a:solidFill>
            <a:srgbClr val="1E2D4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54680" y="553212"/>
            <a:ext cx="2743200" cy="5486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46120" y="6903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RESILIENCE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3246120" y="1101852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drinks are an everyday affordable indulgence (~$2–4). Even in a downturn, consumers cut vacations before they cut their morning energy drink. Highly sticky demand.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>
          <a:xfrm>
            <a:off x="6035040" y="553212"/>
            <a:ext cx="2743200" cy="1817370"/>
          </a:xfrm>
          <a:prstGeom prst="rect">
            <a:avLst/>
          </a:prstGeom>
          <a:solidFill>
            <a:srgbClr val="1E2D4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35040" y="553212"/>
            <a:ext cx="2743200" cy="54864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6903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WELLNESS MEGA-TREND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6126480" y="1101852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are actively shifting to functional, better-for-you beverages. Celsius sits directly in the intersection of energy + health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5474970"/>
            <a:ext cx="8595360" cy="594360"/>
          </a:xfrm>
          <a:prstGeom prst="rect">
            <a:avLst/>
          </a:prstGeom>
          <a:solidFill>
            <a:srgbClr val="E8401C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554812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NVIDIA or MAG7, CELH is NOT a crowded trade — less analyst coverage, less institutional saturation, more room for re-rating</a:t>
            </a:r>
            <a:endParaRPr lang="en-US" sz="1150"/>
          </a:p>
        </p:txBody>
      </p:sp>
      <p:graphicFrame>
        <p:nvGraphicFramePr>
          <p:cNvPr id="19" name="Chart 0">
            <a:extLst>
              <a:ext uri="{FF2B5EF4-FFF2-40B4-BE49-F238E27FC236}">
                <a16:creationId xmlns:a16="http://schemas.microsoft.com/office/drawing/2014/main" id="{7972B737-82CE-BDB3-F247-B95CB52180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8316675"/>
              </p:ext>
            </p:extLst>
          </p:nvPr>
        </p:nvGraphicFramePr>
        <p:xfrm>
          <a:off x="292608" y="2516887"/>
          <a:ext cx="5605272" cy="25123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2">
            <a:extLst>
              <a:ext uri="{FF2B5EF4-FFF2-40B4-BE49-F238E27FC236}">
                <a16:creationId xmlns:a16="http://schemas.microsoft.com/office/drawing/2014/main" id="{A22E8405-5166-5618-3A40-5EE08EA1B6D3}"/>
              </a:ext>
            </a:extLst>
          </p:cNvPr>
          <p:cNvSpPr/>
          <p:nvPr/>
        </p:nvSpPr>
        <p:spPr>
          <a:xfrm>
            <a:off x="6035040" y="2559779"/>
            <a:ext cx="2743200" cy="713232"/>
          </a:xfrm>
          <a:prstGeom prst="rect">
            <a:avLst/>
          </a:prstGeom>
          <a:solidFill>
            <a:srgbClr val="1E2D4E"/>
          </a:solidFill>
          <a:ln w="12700">
            <a:solidFill>
              <a:srgbClr val="2A3F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B86127F3-7BD4-11B1-0AE1-2A6569BCC7FB}"/>
              </a:ext>
            </a:extLst>
          </p:cNvPr>
          <p:cNvSpPr/>
          <p:nvPr/>
        </p:nvSpPr>
        <p:spPr>
          <a:xfrm>
            <a:off x="6035040" y="2559779"/>
            <a:ext cx="51435" cy="713232"/>
          </a:xfrm>
          <a:prstGeom prst="rect">
            <a:avLst/>
          </a:prstGeom>
          <a:solidFill>
            <a:srgbClr val="F96127"/>
          </a:solidFill>
          <a:ln w="12700">
            <a:solidFill>
              <a:srgbClr val="F96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C671277A-237A-3679-A92A-F6D63CDDE0F1}"/>
              </a:ext>
            </a:extLst>
          </p:cNvPr>
          <p:cNvSpPr/>
          <p:nvPr/>
        </p:nvSpPr>
        <p:spPr>
          <a:xfrm>
            <a:off x="6172200" y="2563935"/>
            <a:ext cx="9429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96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10%</a:t>
            </a:r>
            <a:endParaRPr lang="en-US" sz="180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89DD3BAA-36B2-68ED-D11B-B35D9842C9FD}"/>
              </a:ext>
            </a:extLst>
          </p:cNvPr>
          <p:cNvSpPr/>
          <p:nvPr/>
        </p:nvSpPr>
        <p:spPr>
          <a:xfrm>
            <a:off x="6172200" y="2822877"/>
            <a:ext cx="248602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Youth Drinking</a:t>
            </a:r>
            <a:endParaRPr lang="en-US" sz="95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4E910A16-C7D9-9E08-1453-B5BDE2DBEFA7}"/>
              </a:ext>
            </a:extLst>
          </p:cNvPr>
          <p:cNvSpPr/>
          <p:nvPr/>
        </p:nvSpPr>
        <p:spPr>
          <a:xfrm>
            <a:off x="6172200" y="3031111"/>
            <a:ext cx="248602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under 35 who drink: 72% (2001) → 62% (2023)  —  Gallup</a:t>
            </a:r>
            <a:endParaRPr lang="en-US" sz="85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606B3F8D-9003-E9DF-D491-F69AE060F727}"/>
              </a:ext>
            </a:extLst>
          </p:cNvPr>
          <p:cNvSpPr/>
          <p:nvPr/>
        </p:nvSpPr>
        <p:spPr>
          <a:xfrm>
            <a:off x="6035040" y="3355307"/>
            <a:ext cx="2743200" cy="713232"/>
          </a:xfrm>
          <a:prstGeom prst="rect">
            <a:avLst/>
          </a:prstGeom>
          <a:solidFill>
            <a:srgbClr val="1E2D4E"/>
          </a:solidFill>
          <a:ln w="12700">
            <a:solidFill>
              <a:srgbClr val="2A3F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785C273D-67D8-D513-8758-E66E2C170237}"/>
              </a:ext>
            </a:extLst>
          </p:cNvPr>
          <p:cNvSpPr/>
          <p:nvPr/>
        </p:nvSpPr>
        <p:spPr>
          <a:xfrm>
            <a:off x="6035040" y="3355307"/>
            <a:ext cx="51435" cy="713232"/>
          </a:xfrm>
          <a:prstGeom prst="rect">
            <a:avLst/>
          </a:prstGeom>
          <a:solidFill>
            <a:srgbClr val="F96127"/>
          </a:solidFill>
          <a:ln w="12700">
            <a:solidFill>
              <a:srgbClr val="F96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C5DFC5B2-1341-4FA0-FC8A-2CAE87F2430A}"/>
              </a:ext>
            </a:extLst>
          </p:cNvPr>
          <p:cNvSpPr/>
          <p:nvPr/>
        </p:nvSpPr>
        <p:spPr>
          <a:xfrm>
            <a:off x="6172200" y="3359047"/>
            <a:ext cx="9429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96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80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2DE3E4F1-0D27-4110-1FD9-B6EEE3E8795F}"/>
              </a:ext>
            </a:extLst>
          </p:cNvPr>
          <p:cNvSpPr/>
          <p:nvPr/>
        </p:nvSpPr>
        <p:spPr>
          <a:xfrm>
            <a:off x="6172200" y="3605935"/>
            <a:ext cx="248602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Millennials</a:t>
            </a:r>
            <a:endParaRPr lang="en-US" sz="95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60B63024-1CFF-55E1-1F70-4B89863D02D6}"/>
              </a:ext>
            </a:extLst>
          </p:cNvPr>
          <p:cNvSpPr/>
          <p:nvPr/>
        </p:nvSpPr>
        <p:spPr>
          <a:xfrm>
            <a:off x="6172200" y="3821234"/>
            <a:ext cx="248602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drinks 20% less than millennials on average  —  World Finance</a:t>
            </a:r>
            <a:endParaRPr lang="en-US" sz="850"/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D9C84947-3C34-3DC0-EA0B-905B260184F6}"/>
              </a:ext>
            </a:extLst>
          </p:cNvPr>
          <p:cNvSpPr/>
          <p:nvPr/>
        </p:nvSpPr>
        <p:spPr>
          <a:xfrm>
            <a:off x="6035039" y="4174443"/>
            <a:ext cx="2743199" cy="713231"/>
          </a:xfrm>
          <a:prstGeom prst="rect">
            <a:avLst/>
          </a:prstGeom>
          <a:solidFill>
            <a:srgbClr val="1E2D4E"/>
          </a:solidFill>
          <a:ln w="12700">
            <a:solidFill>
              <a:srgbClr val="F96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3767732B-11E1-85EC-493C-D43CE630F183}"/>
              </a:ext>
            </a:extLst>
          </p:cNvPr>
          <p:cNvSpPr/>
          <p:nvPr/>
        </p:nvSpPr>
        <p:spPr>
          <a:xfrm>
            <a:off x="6086475" y="4182239"/>
            <a:ext cx="2606040" cy="7132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alcohol loses ground with young adults, energy drinks, especially functional, better-for-you brands like Celsius, are filling the gap.</a:t>
            </a:r>
            <a:endParaRPr lang="en-US"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F96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 D U S T R Y   O V E R V I E W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Energy Drink Market Continues to Grow</a:t>
            </a:r>
            <a:endParaRPr lang="en-US" sz="260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376362051"/>
              </p:ext>
            </p:extLst>
          </p:nvPr>
        </p:nvGraphicFramePr>
        <p:xfrm>
          <a:off x="365760" y="1097280"/>
          <a:ext cx="4631298" cy="3351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9467669" y="685864"/>
            <a:ext cx="2926080" cy="960120"/>
          </a:xfrm>
          <a:prstGeom prst="rect">
            <a:avLst/>
          </a:prstGeom>
          <a:solidFill>
            <a:srgbClr val="1E2D4E"/>
          </a:solidFill>
          <a:ln w="12700">
            <a:solidFill>
              <a:srgbClr val="2A3F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9467669" y="685864"/>
            <a:ext cx="54864" cy="960120"/>
          </a:xfrm>
          <a:prstGeom prst="rect">
            <a:avLst/>
          </a:prstGeom>
          <a:solidFill>
            <a:srgbClr val="F96127"/>
          </a:solidFill>
          <a:ln w="12700">
            <a:solidFill>
              <a:srgbClr val="F96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604829" y="75901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96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</a:t>
            </a:r>
            <a:endParaRPr lang="en-US" sz="2800"/>
          </a:p>
        </p:txBody>
      </p:sp>
      <p:sp>
        <p:nvSpPr>
          <p:cNvPr id="8" name="Text 5"/>
          <p:cNvSpPr/>
          <p:nvPr/>
        </p:nvSpPr>
        <p:spPr>
          <a:xfrm>
            <a:off x="9604829" y="118878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 2024–2032</a:t>
            </a:r>
            <a:endParaRPr lang="en-US" sz="1000"/>
          </a:p>
        </p:txBody>
      </p:sp>
      <p:sp>
        <p:nvSpPr>
          <p:cNvPr id="9" name="Text 6"/>
          <p:cNvSpPr/>
          <p:nvPr/>
        </p:nvSpPr>
        <p:spPr>
          <a:xfrm>
            <a:off x="9604829" y="13808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outperformance vs. total beverage</a:t>
            </a:r>
            <a:endParaRPr lang="en-US" sz="900"/>
          </a:p>
        </p:txBody>
      </p:sp>
      <p:sp>
        <p:nvSpPr>
          <p:cNvPr id="10" name="Shape 7"/>
          <p:cNvSpPr/>
          <p:nvPr/>
        </p:nvSpPr>
        <p:spPr>
          <a:xfrm>
            <a:off x="5239374" y="1134482"/>
            <a:ext cx="3538866" cy="960120"/>
          </a:xfrm>
          <a:prstGeom prst="rect">
            <a:avLst/>
          </a:prstGeom>
          <a:solidFill>
            <a:srgbClr val="1E2D4E"/>
          </a:solidFill>
          <a:ln w="12700">
            <a:solidFill>
              <a:srgbClr val="2A3F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239375" y="1134482"/>
            <a:ext cx="54864" cy="960120"/>
          </a:xfrm>
          <a:prstGeom prst="rect">
            <a:avLst/>
          </a:prstGeom>
          <a:solidFill>
            <a:srgbClr val="F96127"/>
          </a:solidFill>
          <a:ln w="12700">
            <a:solidFill>
              <a:srgbClr val="F96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376535" y="1207634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96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70.5%</a:t>
            </a:r>
            <a:endParaRPr lang="en-US" sz="2800"/>
          </a:p>
        </p:txBody>
      </p:sp>
      <p:sp>
        <p:nvSpPr>
          <p:cNvPr id="13" name="Text 10"/>
          <p:cNvSpPr/>
          <p:nvPr/>
        </p:nvSpPr>
        <p:spPr>
          <a:xfrm>
            <a:off x="5376535" y="163740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Penetration</a:t>
            </a:r>
            <a:endParaRPr lang="en-US" sz="1000"/>
          </a:p>
        </p:txBody>
      </p:sp>
      <p:sp>
        <p:nvSpPr>
          <p:cNvPr id="14" name="Text 11"/>
          <p:cNvSpPr/>
          <p:nvPr/>
        </p:nvSpPr>
        <p:spPr>
          <a:xfrm>
            <a:off x="5376535" y="182942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64.8% in Jan 2023 (Circana MULOC)</a:t>
            </a:r>
            <a:endParaRPr lang="en-US" sz="900"/>
          </a:p>
        </p:txBody>
      </p:sp>
      <p:sp>
        <p:nvSpPr>
          <p:cNvPr id="15" name="Shape 12"/>
          <p:cNvSpPr/>
          <p:nvPr/>
        </p:nvSpPr>
        <p:spPr>
          <a:xfrm>
            <a:off x="9330509" y="3753548"/>
            <a:ext cx="2926080" cy="960120"/>
          </a:xfrm>
          <a:prstGeom prst="rect">
            <a:avLst/>
          </a:prstGeom>
          <a:solidFill>
            <a:srgbClr val="1E2D4E"/>
          </a:solidFill>
          <a:ln w="12700">
            <a:solidFill>
              <a:srgbClr val="2A3F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9330509" y="3753548"/>
            <a:ext cx="54864" cy="960120"/>
          </a:xfrm>
          <a:prstGeom prst="rect">
            <a:avLst/>
          </a:prstGeom>
          <a:solidFill>
            <a:srgbClr val="F96127"/>
          </a:solidFill>
          <a:ln w="12700">
            <a:solidFill>
              <a:srgbClr val="F96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467669" y="38267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96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$45B</a:t>
            </a:r>
            <a:endParaRPr lang="en-US" sz="2800"/>
          </a:p>
        </p:txBody>
      </p:sp>
      <p:sp>
        <p:nvSpPr>
          <p:cNvPr id="18" name="Text 15"/>
          <p:cNvSpPr/>
          <p:nvPr/>
        </p:nvSpPr>
        <p:spPr>
          <a:xfrm>
            <a:off x="9467669" y="425646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Size by 2032</a:t>
            </a:r>
            <a:endParaRPr lang="en-US" sz="1000"/>
          </a:p>
        </p:txBody>
      </p:sp>
      <p:sp>
        <p:nvSpPr>
          <p:cNvPr id="19" name="Text 16"/>
          <p:cNvSpPr/>
          <p:nvPr/>
        </p:nvSpPr>
        <p:spPr>
          <a:xfrm>
            <a:off x="9467669" y="444849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$24B in 2024 — nearly 2× growth</a:t>
            </a:r>
            <a:endParaRPr lang="en-US" sz="900"/>
          </a:p>
        </p:txBody>
      </p:sp>
      <p:sp>
        <p:nvSpPr>
          <p:cNvPr id="20" name="Text 17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Grand View Research · Custom Market Insights · Circana MULOC 2024</a:t>
            </a:r>
            <a:endParaRPr lang="en-US" sz="80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2D877BA-CFA9-E1AE-8AB2-3FB90AB1C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374" y="2415185"/>
            <a:ext cx="3538866" cy="203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677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40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E84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CATALYSTS &amp; RECENT NEWS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Strategic Moves</a:t>
            </a:r>
            <a:endParaRPr lang="en-US" sz="170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1143000"/>
          </a:xfrm>
          <a:prstGeom prst="rect">
            <a:avLst/>
          </a:prstGeom>
          <a:solidFill>
            <a:srgbClr val="1E2D4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73152" cy="11430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1005840" y="1307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PepsiCo Distribution Lock-In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1005840" y="16184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→ 2025 → Ongoing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4754880" y="128016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PepsiCo owns ~11% stake in CELH ($1.135B total invested)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brands now distributed via PepsiCo's DSD network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CELH becomes PepsiCo's 'energy category captain' in US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PepsiCo gets a board seat — deeply aligned incentives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Moat: independent distributors can't compete with Pepsi's reach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274320" y="2468880"/>
            <a:ext cx="8595360" cy="1143000"/>
          </a:xfrm>
          <a:prstGeom prst="rect">
            <a:avLst/>
          </a:prstGeom>
          <a:solidFill>
            <a:srgbClr val="1E2D4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73152" cy="1143000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E91E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1005840" y="2542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Alani Nu Acquisition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1005840" y="28529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2025 · $1.8B</a:t>
            </a:r>
            <a:endParaRPr lang="en-US" sz="950"/>
          </a:p>
        </p:txBody>
      </p:sp>
      <p:sp>
        <p:nvSpPr>
          <p:cNvPr id="16" name="Text 14"/>
          <p:cNvSpPr/>
          <p:nvPr/>
        </p:nvSpPr>
        <p:spPr>
          <a:xfrm>
            <a:off x="4754880" y="25146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Fastest-growing energy brand in the US (64% retail growth in 2024)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Female-first positioning fills a massive demographic gap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$1B+ revenue in its first year under CELH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Cherry Bomb LTO sold out 'in record time' post-acquisition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into Pepsi DSD — distribution efficiency gains ahead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274320" y="3703320"/>
            <a:ext cx="8595360" cy="1143000"/>
          </a:xfrm>
          <a:prstGeom prst="rect">
            <a:avLst/>
          </a:prstGeom>
          <a:solidFill>
            <a:srgbClr val="1E2D4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703320"/>
            <a:ext cx="73152" cy="1143000"/>
          </a:xfrm>
          <a:prstGeom prst="rect">
            <a:avLst/>
          </a:prstGeom>
          <a:solidFill>
            <a:srgbClr val="F961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96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/>
          </a:p>
        </p:txBody>
      </p:sp>
      <p:sp>
        <p:nvSpPr>
          <p:cNvPr id="20" name="Text 18"/>
          <p:cNvSpPr/>
          <p:nvPr/>
        </p:nvSpPr>
        <p:spPr>
          <a:xfrm>
            <a:off x="1005840" y="3776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Rockstar Energy Acquisition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1005840" y="40873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F96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2025</a:t>
            </a:r>
            <a:endParaRPr lang="en-US" sz="950"/>
          </a:p>
        </p:txBody>
      </p:sp>
      <p:sp>
        <p:nvSpPr>
          <p:cNvPr id="22" name="Text 20"/>
          <p:cNvSpPr/>
          <p:nvPr/>
        </p:nvSpPr>
        <p:spPr>
          <a:xfrm>
            <a:off x="4754880" y="374904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Rockstar US/Canada rights from PepsiCo in brand swap deal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traditional/classic energy segment (~50% of category growth)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 the portfolio: health (CELH) + female (Alani) + classic (Rockstar)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grew from $150M (2020) → $5B (2025) → projected $6B (2026)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 increase in total distribution points in 2024 alone</a:t>
            </a:r>
            <a:endParaRPr lang="en-US" sz="9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40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E84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Market Share %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3337560"/>
          </a:xfrm>
          <a:prstGeom prst="rect">
            <a:avLst/>
          </a:prstGeom>
          <a:solidFill>
            <a:srgbClr val="1E2D4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743200" cy="73152"/>
          </a:xfrm>
          <a:prstGeom prst="rect">
            <a:avLst/>
          </a:prstGeom>
          <a:solidFill>
            <a:srgbClr val="E840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38988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CELSIUS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384048" y="17373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E84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Brand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384048" y="2048256"/>
            <a:ext cx="2523744" cy="18288"/>
          </a:xfrm>
          <a:prstGeom prst="rect">
            <a:avLst/>
          </a:prstGeom>
          <a:solidFill>
            <a:srgbClr val="2A3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-2946908" y="2034540"/>
            <a:ext cx="2523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in fitness. Targets health-conscious, active consumers. 'Better-for-you' energy with Essential Energy™ formula. ~98.7% ACV coverage.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3886200"/>
            <a:ext cx="2523744" cy="502920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39136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Market Share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37360" y="39136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11.8%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54680" y="1234440"/>
            <a:ext cx="2743200" cy="3337560"/>
          </a:xfrm>
          <a:prstGeom prst="rect">
            <a:avLst/>
          </a:prstGeom>
          <a:solidFill>
            <a:srgbClr val="1E2D4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54680" y="1234440"/>
            <a:ext cx="2743200" cy="73152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64408" y="138988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ALANI NU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3264408" y="17373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April 2025 · $1.8B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3264408" y="2048256"/>
            <a:ext cx="2523744" cy="18288"/>
          </a:xfrm>
          <a:prstGeom prst="rect">
            <a:avLst/>
          </a:prstGeom>
          <a:solidFill>
            <a:srgbClr val="2A3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-2734056" y="-1303020"/>
            <a:ext cx="2523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Female-focused. Influencer-led marketing. Distinctive flavors like Witches Brew &amp; Sherbet Swirl. Generated $1B+ revenue in first year under CELH.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64408" y="3886200"/>
            <a:ext cx="2523744" cy="502920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64408" y="39136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Market Share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17720" y="39136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1E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~5%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35040" y="1234440"/>
            <a:ext cx="2743200" cy="3337560"/>
          </a:xfrm>
          <a:prstGeom prst="rect">
            <a:avLst/>
          </a:prstGeom>
          <a:solidFill>
            <a:srgbClr val="1E2D4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35040" y="1234440"/>
            <a:ext cx="2743200" cy="7315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44768" y="138988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ROCKSTAR</a:t>
            </a:r>
            <a:endParaRPr lang="en-US" sz="1500"/>
          </a:p>
        </p:txBody>
      </p:sp>
      <p:sp>
        <p:nvSpPr>
          <p:cNvPr id="26" name="Text 24"/>
          <p:cNvSpPr/>
          <p:nvPr/>
        </p:nvSpPr>
        <p:spPr>
          <a:xfrm>
            <a:off x="6144768" y="17373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from PepsiCo, Sept 2025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6144768" y="2048256"/>
            <a:ext cx="2523744" cy="18288"/>
          </a:xfrm>
          <a:prstGeom prst="rect">
            <a:avLst/>
          </a:prstGeom>
          <a:solidFill>
            <a:srgbClr val="2A3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624568" y="2148840"/>
            <a:ext cx="2523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energy segment — male-skewed. Traditional flavors and formats. Broadens CELH's demographic reach to the other 50% of the market.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44768" y="3886200"/>
            <a:ext cx="2523744" cy="502920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44768" y="39136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Market Share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98080" y="39136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~2-3%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E8401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 ~17-20% US market share — #3 globally behind Red Bull (#1) and Monster (#2)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>
                <a:ln>
                  <a:noFill/>
                </a:ln>
                <a:solidFill>
                  <a:srgbClr val="F9612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 N D U S T R Y   T A I L W I N D 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Celsius drove 47% of all energy drink category growth 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9870376" y="2643031"/>
            <a:ext cx="2926080" cy="713232"/>
          </a:xfrm>
          <a:prstGeom prst="rect">
            <a:avLst/>
          </a:prstGeom>
          <a:solidFill>
            <a:srgbClr val="1E2D4E"/>
          </a:solidFill>
          <a:ln w="12700">
            <a:solidFill>
              <a:srgbClr val="2A3F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9870376" y="2643031"/>
            <a:ext cx="54864" cy="713232"/>
          </a:xfrm>
          <a:prstGeom prst="rect">
            <a:avLst/>
          </a:prstGeom>
          <a:solidFill>
            <a:srgbClr val="F96127"/>
          </a:solidFill>
          <a:ln w="12700">
            <a:solidFill>
              <a:srgbClr val="F961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007536" y="2647187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9612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 10%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007536" y="2906129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Drop in Youth Drinking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007536" y="3114363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>
                <a:ln>
                  <a:noFill/>
                </a:ln>
                <a:solidFill>
                  <a:srgbClr val="7A8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Adults under 35 who drink: 72% (2001) → 62% (2023)  —  Gallup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870376" y="3438559"/>
            <a:ext cx="2926080" cy="713232"/>
          </a:xfrm>
          <a:prstGeom prst="rect">
            <a:avLst/>
          </a:prstGeom>
          <a:solidFill>
            <a:srgbClr val="1E2D4E"/>
          </a:solidFill>
          <a:ln w="12700">
            <a:solidFill>
              <a:srgbClr val="2A3F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9870376" y="3438559"/>
            <a:ext cx="54864" cy="713232"/>
          </a:xfrm>
          <a:prstGeom prst="rect">
            <a:avLst/>
          </a:prstGeom>
          <a:solidFill>
            <a:srgbClr val="F96127"/>
          </a:solidFill>
          <a:ln w="12700">
            <a:solidFill>
              <a:srgbClr val="F961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007536" y="3442299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9612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007536" y="3689187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Less Than Millennials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007536" y="390448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>
                <a:ln>
                  <a:noFill/>
                </a:ln>
                <a:solidFill>
                  <a:srgbClr val="7A8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 Z drinks 20% less than millennials on average  —  World Finance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9815512" y="1211996"/>
            <a:ext cx="2926080" cy="713232"/>
          </a:xfrm>
          <a:prstGeom prst="rect">
            <a:avLst/>
          </a:prstGeom>
          <a:solidFill>
            <a:srgbClr val="1E2D4E"/>
          </a:solidFill>
          <a:ln w="12700">
            <a:solidFill>
              <a:srgbClr val="2A3F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9815512" y="1211996"/>
            <a:ext cx="54864" cy="713232"/>
          </a:xfrm>
          <a:prstGeom prst="rect">
            <a:avLst/>
          </a:prstGeom>
          <a:solidFill>
            <a:srgbClr val="F96127"/>
          </a:solidFill>
          <a:ln w="12700">
            <a:solidFill>
              <a:srgbClr val="F961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952672" y="122363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9612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952672" y="1494629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Plan to Cut Back Further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952672" y="170992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>
                <a:ln>
                  <a:noFill/>
                </a:ln>
                <a:solidFill>
                  <a:srgbClr val="7A8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Share of Gen Z planning to drink less rose 53% YoY in 2024  —  NCSolutions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9550336" y="4234087"/>
            <a:ext cx="2926080" cy="713232"/>
          </a:xfrm>
          <a:prstGeom prst="rect">
            <a:avLst/>
          </a:prstGeom>
          <a:solidFill>
            <a:srgbClr val="1E2D4E"/>
          </a:solidFill>
          <a:ln w="12700">
            <a:solidFill>
              <a:srgbClr val="2A3F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9550336" y="4234087"/>
            <a:ext cx="54864" cy="713232"/>
          </a:xfrm>
          <a:prstGeom prst="rect">
            <a:avLst/>
          </a:prstGeom>
          <a:solidFill>
            <a:srgbClr val="F96127"/>
          </a:solidFill>
          <a:ln w="12700">
            <a:solidFill>
              <a:srgbClr val="F961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9687496" y="4234919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9612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9687496" y="446726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Celsius Category Growth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687496" y="4701263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>
                <a:ln>
                  <a:noFill/>
                </a:ln>
                <a:solidFill>
                  <a:srgbClr val="7A8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Celsius drove 47% of all energy drink category growth YoY in Q1 2024  —  Circana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65760" y="5322177"/>
            <a:ext cx="8412480" cy="475488"/>
          </a:xfrm>
          <a:prstGeom prst="rect">
            <a:avLst/>
          </a:prstGeom>
          <a:solidFill>
            <a:srgbClr val="1E2D4E"/>
          </a:solidFill>
          <a:ln w="12700">
            <a:solidFill>
              <a:srgbClr val="F961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02920" y="5322177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 alcohol loses ground with young adults, energy drinks, especially functional, better-for-you brands like Celsius, are filling the gap.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365760" y="5870817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7A8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Sources: Gallup 2023 · Cleveland Clinic · NCSolutions 2024 · World Finance · Circana MULOC Q1 2024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081DF54-8835-0207-E5EB-BC77F88FA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29785"/>
            <a:ext cx="4644995" cy="3710060"/>
          </a:xfrm>
          <a:prstGeom prst="rect">
            <a:avLst/>
          </a:prstGeom>
        </p:spPr>
      </p:pic>
      <p:sp>
        <p:nvSpPr>
          <p:cNvPr id="30" name="Shape 3">
            <a:extLst>
              <a:ext uri="{FF2B5EF4-FFF2-40B4-BE49-F238E27FC236}">
                <a16:creationId xmlns:a16="http://schemas.microsoft.com/office/drawing/2014/main" id="{30D57630-CD1B-83DE-CFD9-C820452FA59B}"/>
              </a:ext>
            </a:extLst>
          </p:cNvPr>
          <p:cNvSpPr/>
          <p:nvPr/>
        </p:nvSpPr>
        <p:spPr>
          <a:xfrm>
            <a:off x="5174267" y="1051560"/>
            <a:ext cx="3793046" cy="1143000"/>
          </a:xfrm>
          <a:prstGeom prst="rect">
            <a:avLst/>
          </a:prstGeom>
          <a:solidFill>
            <a:srgbClr val="1E2D4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7B2D3504-3A2C-6E52-9227-0A047901E91D}"/>
              </a:ext>
            </a:extLst>
          </p:cNvPr>
          <p:cNvSpPr/>
          <p:nvPr/>
        </p:nvSpPr>
        <p:spPr>
          <a:xfrm>
            <a:off x="5172677" y="1051560"/>
            <a:ext cx="73152" cy="11430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992E63BE-EF94-A40A-BF9A-738F7236BF68}"/>
              </a:ext>
            </a:extLst>
          </p:cNvPr>
          <p:cNvSpPr/>
          <p:nvPr/>
        </p:nvSpPr>
        <p:spPr>
          <a:xfrm>
            <a:off x="5407751" y="1143902"/>
            <a:ext cx="3532129" cy="958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-120"/>
              </a:rPr>
              <a:t>The energy drink market is huge and mostly locked up by Red Bull (37%) and Monster (28%)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Two giants have billions in existing sales, but they're relatively flat or declining.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Celsius is smaller in total size but growing explosively.</a:t>
            </a:r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933892FA-93DA-DB60-E542-E02F94609758}"/>
              </a:ext>
            </a:extLst>
          </p:cNvPr>
          <p:cNvSpPr/>
          <p:nvPr/>
        </p:nvSpPr>
        <p:spPr>
          <a:xfrm>
            <a:off x="5175857" y="2318188"/>
            <a:ext cx="3793046" cy="1143000"/>
          </a:xfrm>
          <a:prstGeom prst="rect">
            <a:avLst/>
          </a:prstGeom>
          <a:solidFill>
            <a:srgbClr val="1E2D4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E4612823-3AB4-37D5-BEFB-245FF1D6E4B5}"/>
              </a:ext>
            </a:extLst>
          </p:cNvPr>
          <p:cNvSpPr/>
          <p:nvPr/>
        </p:nvSpPr>
        <p:spPr>
          <a:xfrm>
            <a:off x="5430212" y="2431874"/>
            <a:ext cx="3511258" cy="936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-120"/>
              </a:rPr>
              <a:t>An example to make it click: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 Bull does $100M → grows to $102M. That's $2M in new dollars.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Celsius does $20M → grows to $40M. That's $20M in new dollars.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Celsius is smaller in total size but it contributed more to growth of because it's the one adding new sales while the big guys stagnate.</a:t>
            </a: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98ABBDC8-6704-0071-C346-D3DF2197ADE9}"/>
              </a:ext>
            </a:extLst>
          </p:cNvPr>
          <p:cNvSpPr/>
          <p:nvPr/>
        </p:nvSpPr>
        <p:spPr>
          <a:xfrm>
            <a:off x="5177447" y="3606592"/>
            <a:ext cx="3793046" cy="1143000"/>
          </a:xfrm>
          <a:prstGeom prst="rect">
            <a:avLst/>
          </a:prstGeom>
          <a:solidFill>
            <a:srgbClr val="1E2D4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38E5A8CD-ED97-0AD6-5788-BCF41B76B1E9}"/>
              </a:ext>
            </a:extLst>
          </p:cNvPr>
          <p:cNvSpPr/>
          <p:nvPr/>
        </p:nvSpPr>
        <p:spPr>
          <a:xfrm>
            <a:off x="5430212" y="3720278"/>
            <a:ext cx="3512848" cy="936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-120"/>
              </a:rPr>
              <a:t>Celsius controls 20% of the market share below Red Bull and Monster but 47% of all new growth.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-120"/>
              </a:rPr>
              <a:t>Celsius is the only brand in the category with real momentum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10">
            <a:extLst>
              <a:ext uri="{FF2B5EF4-FFF2-40B4-BE49-F238E27FC236}">
                <a16:creationId xmlns:a16="http://schemas.microsoft.com/office/drawing/2014/main" id="{ABD3216E-F357-D96D-4F28-EB07FA6B0DD3}"/>
              </a:ext>
            </a:extLst>
          </p:cNvPr>
          <p:cNvSpPr/>
          <p:nvPr/>
        </p:nvSpPr>
        <p:spPr>
          <a:xfrm>
            <a:off x="5172677" y="2318188"/>
            <a:ext cx="73152" cy="1143000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16">
            <a:extLst>
              <a:ext uri="{FF2B5EF4-FFF2-40B4-BE49-F238E27FC236}">
                <a16:creationId xmlns:a16="http://schemas.microsoft.com/office/drawing/2014/main" id="{AA4FD309-0542-A49F-A77E-108FAF08E9FC}"/>
              </a:ext>
            </a:extLst>
          </p:cNvPr>
          <p:cNvSpPr/>
          <p:nvPr/>
        </p:nvSpPr>
        <p:spPr>
          <a:xfrm>
            <a:off x="5190368" y="3606592"/>
            <a:ext cx="73152" cy="1143000"/>
          </a:xfrm>
          <a:prstGeom prst="rect">
            <a:avLst/>
          </a:prstGeom>
          <a:solidFill>
            <a:srgbClr val="F961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4564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40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E84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OVERVIEW — IS, BS, CFFA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274320" y="51663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170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918707888"/>
              </p:ext>
            </p:extLst>
          </p:nvPr>
        </p:nvGraphicFramePr>
        <p:xfrm>
          <a:off x="548640" y="5669280"/>
          <a:ext cx="43891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212080" y="5669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E84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FINANCIALS ($M)</a:t>
            </a:r>
            <a:endParaRPr lang="en-US" sz="100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673670"/>
              </p:ext>
            </p:extLst>
          </p:nvPr>
        </p:nvGraphicFramePr>
        <p:xfrm>
          <a:off x="5212080" y="5989320"/>
          <a:ext cx="3922776" cy="2011681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96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$1,318M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$1,356M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$2,515M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$633M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$680M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$1,267M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50.2%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Op. Income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$266M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$156M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$469M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$~200M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$~163M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$~64M*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 (diluted)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$0.83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$0.25*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212080" y="8046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*2025 EPS depressed by acquisition costs (Alani Nu $1.8B) — non-recurring. Forward EPS ~$0.91 consensus.</a:t>
            </a:r>
            <a:endParaRPr lang="en-US" sz="850"/>
          </a:p>
        </p:txBody>
      </p:sp>
      <p:sp>
        <p:nvSpPr>
          <p:cNvPr id="9" name="Shape 5"/>
          <p:cNvSpPr/>
          <p:nvPr/>
        </p:nvSpPr>
        <p:spPr>
          <a:xfrm>
            <a:off x="548640" y="8092440"/>
            <a:ext cx="2103120" cy="548640"/>
          </a:xfrm>
          <a:prstGeom prst="rect">
            <a:avLst/>
          </a:prstGeom>
          <a:solidFill>
            <a:srgbClr val="1E2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40080" y="81290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Ratio</a:t>
            </a:r>
            <a:endParaRPr lang="en-US" sz="900"/>
          </a:p>
        </p:txBody>
      </p:sp>
      <p:sp>
        <p:nvSpPr>
          <p:cNvPr id="11" name="Text 7"/>
          <p:cNvSpPr/>
          <p:nvPr/>
        </p:nvSpPr>
        <p:spPr>
          <a:xfrm>
            <a:off x="640080" y="83667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96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1.68x</a:t>
            </a:r>
            <a:endParaRPr lang="en-US" sz="1200"/>
          </a:p>
        </p:txBody>
      </p:sp>
      <p:sp>
        <p:nvSpPr>
          <p:cNvPr id="12" name="Text 8"/>
          <p:cNvSpPr/>
          <p:nvPr/>
        </p:nvSpPr>
        <p:spPr>
          <a:xfrm>
            <a:off x="1371600" y="8366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liquidity</a:t>
            </a:r>
            <a:endParaRPr lang="en-US" sz="850"/>
          </a:p>
        </p:txBody>
      </p:sp>
      <p:sp>
        <p:nvSpPr>
          <p:cNvPr id="13" name="Shape 9"/>
          <p:cNvSpPr/>
          <p:nvPr/>
        </p:nvSpPr>
        <p:spPr>
          <a:xfrm>
            <a:off x="2788920" y="8092440"/>
            <a:ext cx="2103120" cy="548640"/>
          </a:xfrm>
          <a:prstGeom prst="rect">
            <a:avLst/>
          </a:prstGeom>
          <a:solidFill>
            <a:srgbClr val="1E2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2880360" y="81290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Debt/Equity</a:t>
            </a:r>
            <a:endParaRPr lang="en-US" sz="900"/>
          </a:p>
        </p:txBody>
      </p:sp>
      <p:sp>
        <p:nvSpPr>
          <p:cNvPr id="15" name="Text 11"/>
          <p:cNvSpPr/>
          <p:nvPr/>
        </p:nvSpPr>
        <p:spPr>
          <a:xfrm>
            <a:off x="2880360" y="83667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96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0.23x</a:t>
            </a:r>
            <a:endParaRPr lang="en-US" sz="1200"/>
          </a:p>
        </p:txBody>
      </p:sp>
      <p:sp>
        <p:nvSpPr>
          <p:cNvPr id="16" name="Text 12"/>
          <p:cNvSpPr/>
          <p:nvPr/>
        </p:nvSpPr>
        <p:spPr>
          <a:xfrm>
            <a:off x="3611880" y="8366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leverage</a:t>
            </a:r>
            <a:endParaRPr lang="en-US" sz="850"/>
          </a:p>
        </p:txBody>
      </p:sp>
      <p:sp>
        <p:nvSpPr>
          <p:cNvPr id="17" name="Shape 13"/>
          <p:cNvSpPr/>
          <p:nvPr/>
        </p:nvSpPr>
        <p:spPr>
          <a:xfrm>
            <a:off x="548640" y="8778240"/>
            <a:ext cx="2103120" cy="548640"/>
          </a:xfrm>
          <a:prstGeom prst="rect">
            <a:avLst/>
          </a:prstGeom>
          <a:solidFill>
            <a:srgbClr val="1E2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40080" y="8814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</a:t>
            </a:r>
            <a:endParaRPr lang="en-US" sz="900"/>
          </a:p>
        </p:txBody>
      </p:sp>
      <p:sp>
        <p:nvSpPr>
          <p:cNvPr id="19" name="Text 15"/>
          <p:cNvSpPr/>
          <p:nvPr/>
        </p:nvSpPr>
        <p:spPr>
          <a:xfrm>
            <a:off x="640080" y="90525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96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5.18%</a:t>
            </a:r>
            <a:endParaRPr lang="en-US" sz="1200"/>
          </a:p>
        </p:txBody>
      </p:sp>
      <p:sp>
        <p:nvSpPr>
          <p:cNvPr id="20" name="Text 16"/>
          <p:cNvSpPr/>
          <p:nvPr/>
        </p:nvSpPr>
        <p:spPr>
          <a:xfrm>
            <a:off x="1371600" y="90525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Post-acq. normalization</a:t>
            </a:r>
            <a:endParaRPr lang="en-US" sz="850"/>
          </a:p>
        </p:txBody>
      </p:sp>
      <p:sp>
        <p:nvSpPr>
          <p:cNvPr id="21" name="Shape 17"/>
          <p:cNvSpPr/>
          <p:nvPr/>
        </p:nvSpPr>
        <p:spPr>
          <a:xfrm>
            <a:off x="2788920" y="8778240"/>
            <a:ext cx="2103120" cy="548640"/>
          </a:xfrm>
          <a:prstGeom prst="rect">
            <a:avLst/>
          </a:prstGeom>
          <a:solidFill>
            <a:srgbClr val="1E2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2880360" y="8814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ROIC</a:t>
            </a:r>
            <a:endParaRPr lang="en-US" sz="900"/>
          </a:p>
        </p:txBody>
      </p:sp>
      <p:sp>
        <p:nvSpPr>
          <p:cNvPr id="23" name="Text 19"/>
          <p:cNvSpPr/>
          <p:nvPr/>
        </p:nvSpPr>
        <p:spPr>
          <a:xfrm>
            <a:off x="2880360" y="90525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96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12.92%</a:t>
            </a:r>
            <a:endParaRPr lang="en-US" sz="1200"/>
          </a:p>
        </p:txBody>
      </p:sp>
      <p:sp>
        <p:nvSpPr>
          <p:cNvPr id="24" name="Text 20"/>
          <p:cNvSpPr/>
          <p:nvPr/>
        </p:nvSpPr>
        <p:spPr>
          <a:xfrm>
            <a:off x="3611880" y="90525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with scale</a:t>
            </a:r>
            <a:endParaRPr lang="en-US" sz="85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287C610-C4F7-6E0E-3036-58553BBADC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4387" y="-5796"/>
            <a:ext cx="4110469" cy="5149296"/>
          </a:xfrm>
          <a:prstGeom prst="rect">
            <a:avLst/>
          </a:prstGeom>
        </p:spPr>
      </p:pic>
      <p:sp>
        <p:nvSpPr>
          <p:cNvPr id="42" name="Text 2">
            <a:extLst>
              <a:ext uri="{FF2B5EF4-FFF2-40B4-BE49-F238E27FC236}">
                <a16:creationId xmlns:a16="http://schemas.microsoft.com/office/drawing/2014/main" id="{B53B14A6-03CD-06E9-D38A-6154D9D4A167}"/>
              </a:ext>
            </a:extLst>
          </p:cNvPr>
          <p:cNvSpPr/>
          <p:nvPr/>
        </p:nvSpPr>
        <p:spPr>
          <a:xfrm>
            <a:off x="281951" y="7726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Strongest Points</a:t>
            </a:r>
            <a:endParaRPr lang="en-US" sz="1200"/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63271E4E-2553-829C-1D1B-820B0FC6D2FE}"/>
              </a:ext>
            </a:extLst>
          </p:cNvPr>
          <p:cNvSpPr/>
          <p:nvPr/>
        </p:nvSpPr>
        <p:spPr>
          <a:xfrm>
            <a:off x="281951" y="222427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Red Flag</a:t>
            </a:r>
            <a:endParaRPr lang="en-US" sz="1200"/>
          </a:p>
        </p:txBody>
      </p:sp>
      <p:sp>
        <p:nvSpPr>
          <p:cNvPr id="44" name="Shape 3">
            <a:extLst>
              <a:ext uri="{FF2B5EF4-FFF2-40B4-BE49-F238E27FC236}">
                <a16:creationId xmlns:a16="http://schemas.microsoft.com/office/drawing/2014/main" id="{9C961725-5C73-1A3F-75E0-240DD470B3AD}"/>
              </a:ext>
            </a:extLst>
          </p:cNvPr>
          <p:cNvSpPr/>
          <p:nvPr/>
        </p:nvSpPr>
        <p:spPr>
          <a:xfrm>
            <a:off x="281951" y="1122426"/>
            <a:ext cx="1397977" cy="1078992"/>
          </a:xfrm>
          <a:prstGeom prst="rect">
            <a:avLst/>
          </a:prstGeom>
          <a:solidFill>
            <a:srgbClr val="1E2D4E"/>
          </a:solidFill>
          <a:ln w="12700">
            <a:solidFill>
              <a:srgbClr val="1E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">
            <a:extLst>
              <a:ext uri="{FF2B5EF4-FFF2-40B4-BE49-F238E27FC236}">
                <a16:creationId xmlns:a16="http://schemas.microsoft.com/office/drawing/2014/main" id="{4B1AA550-0162-966B-9BEA-EABD79A9D5C5}"/>
              </a:ext>
            </a:extLst>
          </p:cNvPr>
          <p:cNvSpPr/>
          <p:nvPr/>
        </p:nvSpPr>
        <p:spPr>
          <a:xfrm>
            <a:off x="281952" y="1122426"/>
            <a:ext cx="48003" cy="1078992"/>
          </a:xfrm>
          <a:prstGeom prst="rect">
            <a:avLst/>
          </a:prstGeom>
          <a:solidFill>
            <a:srgbClr val="F96127"/>
          </a:solidFill>
          <a:ln w="12700">
            <a:solidFill>
              <a:srgbClr val="F96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24EE64C7-A586-012E-5F51-23E56ED1E61C}"/>
              </a:ext>
            </a:extLst>
          </p:cNvPr>
          <p:cNvSpPr/>
          <p:nvPr/>
        </p:nvSpPr>
        <p:spPr>
          <a:xfrm>
            <a:off x="446544" y="1168146"/>
            <a:ext cx="126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>
                <a:solidFill>
                  <a:srgbClr val="8B9ABF"/>
                </a:solidFill>
              </a:rPr>
              <a:t>TOTAL ASSETS  (2025)</a:t>
            </a:r>
            <a:endParaRPr lang="en-US" sz="750"/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5BBF53CA-930F-E106-DAD0-9B43071C2E77}"/>
              </a:ext>
            </a:extLst>
          </p:cNvPr>
          <p:cNvSpPr/>
          <p:nvPr/>
        </p:nvSpPr>
        <p:spPr>
          <a:xfrm>
            <a:off x="446544" y="1360170"/>
            <a:ext cx="126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</a:rPr>
              <a:t>$5.1B</a:t>
            </a:r>
            <a:endParaRPr lang="en-US" sz="340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3C2DA445-4364-0382-035F-1347173F316C}"/>
              </a:ext>
            </a:extLst>
          </p:cNvPr>
          <p:cNvSpPr/>
          <p:nvPr/>
        </p:nvSpPr>
        <p:spPr>
          <a:xfrm>
            <a:off x="446544" y="1899666"/>
            <a:ext cx="126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B9ABF"/>
                </a:solidFill>
              </a:rPr>
              <a:t>16×  since 2021 ($314M)</a:t>
            </a:r>
            <a:endParaRPr lang="en-US" sz="900"/>
          </a:p>
        </p:txBody>
      </p:sp>
      <p:sp>
        <p:nvSpPr>
          <p:cNvPr id="49" name="Shape 8">
            <a:extLst>
              <a:ext uri="{FF2B5EF4-FFF2-40B4-BE49-F238E27FC236}">
                <a16:creationId xmlns:a16="http://schemas.microsoft.com/office/drawing/2014/main" id="{E2F47B86-AB1C-B75E-113E-AC008C63A41F}"/>
              </a:ext>
            </a:extLst>
          </p:cNvPr>
          <p:cNvSpPr/>
          <p:nvPr/>
        </p:nvSpPr>
        <p:spPr>
          <a:xfrm>
            <a:off x="1825485" y="1120140"/>
            <a:ext cx="1397977" cy="1078992"/>
          </a:xfrm>
          <a:prstGeom prst="rect">
            <a:avLst/>
          </a:prstGeom>
          <a:solidFill>
            <a:srgbClr val="1E2D4E"/>
          </a:solidFill>
          <a:ln w="12700">
            <a:solidFill>
              <a:srgbClr val="1E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9">
            <a:extLst>
              <a:ext uri="{FF2B5EF4-FFF2-40B4-BE49-F238E27FC236}">
                <a16:creationId xmlns:a16="http://schemas.microsoft.com/office/drawing/2014/main" id="{C60F7BA9-E2AF-F957-9B63-269632C75987}"/>
              </a:ext>
            </a:extLst>
          </p:cNvPr>
          <p:cNvSpPr/>
          <p:nvPr/>
        </p:nvSpPr>
        <p:spPr>
          <a:xfrm>
            <a:off x="1825486" y="1120140"/>
            <a:ext cx="48003" cy="1078992"/>
          </a:xfrm>
          <a:prstGeom prst="rect">
            <a:avLst/>
          </a:prstGeom>
          <a:solidFill>
            <a:srgbClr val="F96127"/>
          </a:solidFill>
          <a:ln w="12700">
            <a:solidFill>
              <a:srgbClr val="F96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10">
            <a:extLst>
              <a:ext uri="{FF2B5EF4-FFF2-40B4-BE49-F238E27FC236}">
                <a16:creationId xmlns:a16="http://schemas.microsoft.com/office/drawing/2014/main" id="{5C6382F7-A13C-C240-8435-6552AC53E935}"/>
              </a:ext>
            </a:extLst>
          </p:cNvPr>
          <p:cNvSpPr/>
          <p:nvPr/>
        </p:nvSpPr>
        <p:spPr>
          <a:xfrm>
            <a:off x="1990078" y="1165860"/>
            <a:ext cx="126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>
                <a:solidFill>
                  <a:srgbClr val="8B9ABF"/>
                </a:solidFill>
              </a:rPr>
              <a:t>STOCKHOLDERS' EQUITY  (2025)</a:t>
            </a:r>
            <a:endParaRPr lang="en-US" sz="750"/>
          </a:p>
        </p:txBody>
      </p:sp>
      <p:sp>
        <p:nvSpPr>
          <p:cNvPr id="52" name="Text 11">
            <a:extLst>
              <a:ext uri="{FF2B5EF4-FFF2-40B4-BE49-F238E27FC236}">
                <a16:creationId xmlns:a16="http://schemas.microsoft.com/office/drawing/2014/main" id="{D05C7D44-DFFD-5429-5C16-F45A65C44A7D}"/>
              </a:ext>
            </a:extLst>
          </p:cNvPr>
          <p:cNvSpPr/>
          <p:nvPr/>
        </p:nvSpPr>
        <p:spPr>
          <a:xfrm>
            <a:off x="1990078" y="1357884"/>
            <a:ext cx="126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</a:rPr>
              <a:t>$1.18B</a:t>
            </a:r>
            <a:endParaRPr lang="en-US" sz="3400"/>
          </a:p>
        </p:txBody>
      </p:sp>
      <p:sp>
        <p:nvSpPr>
          <p:cNvPr id="53" name="Text 12">
            <a:extLst>
              <a:ext uri="{FF2B5EF4-FFF2-40B4-BE49-F238E27FC236}">
                <a16:creationId xmlns:a16="http://schemas.microsoft.com/office/drawing/2014/main" id="{E7C6D358-007B-6323-6F70-A9FE3ABCD219}"/>
              </a:ext>
            </a:extLst>
          </p:cNvPr>
          <p:cNvSpPr/>
          <p:nvPr/>
        </p:nvSpPr>
        <p:spPr>
          <a:xfrm>
            <a:off x="1990078" y="1897380"/>
            <a:ext cx="126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B9ABF"/>
                </a:solidFill>
              </a:rPr>
              <a:t>5×  since 2021 ($217M)</a:t>
            </a:r>
            <a:endParaRPr lang="en-US" sz="900"/>
          </a:p>
        </p:txBody>
      </p:sp>
      <p:sp>
        <p:nvSpPr>
          <p:cNvPr id="54" name="Shape 13">
            <a:extLst>
              <a:ext uri="{FF2B5EF4-FFF2-40B4-BE49-F238E27FC236}">
                <a16:creationId xmlns:a16="http://schemas.microsoft.com/office/drawing/2014/main" id="{FF7E6AEE-BC9C-BF71-17C0-7E4A3954972B}"/>
              </a:ext>
            </a:extLst>
          </p:cNvPr>
          <p:cNvSpPr/>
          <p:nvPr/>
        </p:nvSpPr>
        <p:spPr>
          <a:xfrm>
            <a:off x="3369019" y="1120140"/>
            <a:ext cx="1397977" cy="1078992"/>
          </a:xfrm>
          <a:prstGeom prst="rect">
            <a:avLst/>
          </a:prstGeom>
          <a:solidFill>
            <a:srgbClr val="1E2D4E"/>
          </a:solidFill>
          <a:ln w="12700">
            <a:solidFill>
              <a:srgbClr val="1E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14">
            <a:extLst>
              <a:ext uri="{FF2B5EF4-FFF2-40B4-BE49-F238E27FC236}">
                <a16:creationId xmlns:a16="http://schemas.microsoft.com/office/drawing/2014/main" id="{3FF0DC03-B62A-D611-09D8-F40C31EE606A}"/>
              </a:ext>
            </a:extLst>
          </p:cNvPr>
          <p:cNvSpPr/>
          <p:nvPr/>
        </p:nvSpPr>
        <p:spPr>
          <a:xfrm>
            <a:off x="3369020" y="1120140"/>
            <a:ext cx="48003" cy="1078992"/>
          </a:xfrm>
          <a:prstGeom prst="rect">
            <a:avLst/>
          </a:prstGeom>
          <a:solidFill>
            <a:srgbClr val="F96127"/>
          </a:solidFill>
          <a:ln w="12700">
            <a:solidFill>
              <a:srgbClr val="F96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15">
            <a:extLst>
              <a:ext uri="{FF2B5EF4-FFF2-40B4-BE49-F238E27FC236}">
                <a16:creationId xmlns:a16="http://schemas.microsoft.com/office/drawing/2014/main" id="{97B3B8C0-621D-9CB5-B821-F9836B4A30C9}"/>
              </a:ext>
            </a:extLst>
          </p:cNvPr>
          <p:cNvSpPr/>
          <p:nvPr/>
        </p:nvSpPr>
        <p:spPr>
          <a:xfrm>
            <a:off x="3533612" y="1165860"/>
            <a:ext cx="126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>
                <a:solidFill>
                  <a:srgbClr val="8B9ABF"/>
                </a:solidFill>
              </a:rPr>
              <a:t>TOTAL DEBT RATIO  (2025)</a:t>
            </a:r>
            <a:endParaRPr lang="en-US" sz="750"/>
          </a:p>
        </p:txBody>
      </p:sp>
      <p:sp>
        <p:nvSpPr>
          <p:cNvPr id="58" name="Text 17">
            <a:extLst>
              <a:ext uri="{FF2B5EF4-FFF2-40B4-BE49-F238E27FC236}">
                <a16:creationId xmlns:a16="http://schemas.microsoft.com/office/drawing/2014/main" id="{FD62050D-F2E1-8367-9FDA-E870FE521FC3}"/>
              </a:ext>
            </a:extLst>
          </p:cNvPr>
          <p:cNvSpPr/>
          <p:nvPr/>
        </p:nvSpPr>
        <p:spPr>
          <a:xfrm>
            <a:off x="3533612" y="1420749"/>
            <a:ext cx="1262352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Total Assets grow faster than Total Liabilities over the years</a:t>
            </a:r>
          </a:p>
        </p:txBody>
      </p:sp>
      <p:sp>
        <p:nvSpPr>
          <p:cNvPr id="75" name="Shape 22">
            <a:extLst>
              <a:ext uri="{FF2B5EF4-FFF2-40B4-BE49-F238E27FC236}">
                <a16:creationId xmlns:a16="http://schemas.microsoft.com/office/drawing/2014/main" id="{C7F88E60-F142-01DD-7DA6-E6B2987ABA62}"/>
              </a:ext>
            </a:extLst>
          </p:cNvPr>
          <p:cNvSpPr/>
          <p:nvPr/>
        </p:nvSpPr>
        <p:spPr>
          <a:xfrm>
            <a:off x="283445" y="2578608"/>
            <a:ext cx="3840480" cy="475488"/>
          </a:xfrm>
          <a:prstGeom prst="rect">
            <a:avLst/>
          </a:prstGeom>
          <a:solidFill>
            <a:srgbClr val="1E2D4E"/>
          </a:solidFill>
          <a:ln w="12700">
            <a:solidFill>
              <a:srgbClr val="1E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E31A0541-CEA3-64C6-C9BB-0E21764A60AB}"/>
              </a:ext>
            </a:extLst>
          </p:cNvPr>
          <p:cNvSpPr/>
          <p:nvPr/>
        </p:nvSpPr>
        <p:spPr>
          <a:xfrm>
            <a:off x="429749" y="2651760"/>
            <a:ext cx="3630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B9ABF"/>
                </a:solidFill>
              </a:rPr>
              <a:t>Acct. Rec: </a:t>
            </a:r>
            <a:r>
              <a:rPr lang="en-US" sz="1300" b="1">
                <a:solidFill>
                  <a:srgbClr val="FFFFFF"/>
                </a:solidFill>
              </a:rPr>
              <a:t>$755M</a:t>
            </a:r>
            <a:endParaRPr lang="en-US" sz="105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11A30FA3-7DF1-6587-D882-358F5DC04C3E}"/>
              </a:ext>
            </a:extLst>
          </p:cNvPr>
          <p:cNvSpPr/>
          <p:nvPr/>
        </p:nvSpPr>
        <p:spPr>
          <a:xfrm>
            <a:off x="283445" y="3236976"/>
            <a:ext cx="109728" cy="109728"/>
          </a:xfrm>
          <a:prstGeom prst="ellipse">
            <a:avLst/>
          </a:prstGeom>
          <a:solidFill>
            <a:srgbClr val="F96127"/>
          </a:solidFill>
          <a:ln w="12700">
            <a:solidFill>
              <a:srgbClr val="F96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26">
            <a:extLst>
              <a:ext uri="{FF2B5EF4-FFF2-40B4-BE49-F238E27FC236}">
                <a16:creationId xmlns:a16="http://schemas.microsoft.com/office/drawing/2014/main" id="{B9F42856-F2EB-3D5E-C8F2-3298EC887C17}"/>
              </a:ext>
            </a:extLst>
          </p:cNvPr>
          <p:cNvSpPr/>
          <p:nvPr/>
        </p:nvSpPr>
        <p:spPr>
          <a:xfrm>
            <a:off x="475469" y="317296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</a:rPr>
              <a:t>Alani Nu Acquisition</a:t>
            </a:r>
            <a:endParaRPr lang="en-US" sz="1100"/>
          </a:p>
        </p:txBody>
      </p:sp>
      <p:sp>
        <p:nvSpPr>
          <p:cNvPr id="80" name="Text 27">
            <a:extLst>
              <a:ext uri="{FF2B5EF4-FFF2-40B4-BE49-F238E27FC236}">
                <a16:creationId xmlns:a16="http://schemas.microsoft.com/office/drawing/2014/main" id="{05D43CCA-E94B-2510-B861-AD14D9DBC5BF}"/>
              </a:ext>
            </a:extLst>
          </p:cNvPr>
          <p:cNvSpPr/>
          <p:nvPr/>
        </p:nvSpPr>
        <p:spPr>
          <a:xfrm>
            <a:off x="475469" y="3401568"/>
            <a:ext cx="3648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B9ABF"/>
                </a:solidFill>
              </a:rPr>
              <a:t>The combined balance sheet — this is structural, not a collection issue.</a:t>
            </a:r>
            <a:endParaRPr lang="en-US" sz="900"/>
          </a:p>
        </p:txBody>
      </p:sp>
      <p:sp>
        <p:nvSpPr>
          <p:cNvPr id="84" name="Shape 31">
            <a:extLst>
              <a:ext uri="{FF2B5EF4-FFF2-40B4-BE49-F238E27FC236}">
                <a16:creationId xmlns:a16="http://schemas.microsoft.com/office/drawing/2014/main" id="{FE9CECBD-A85B-BB0E-CEE4-0B72E5DB698B}"/>
              </a:ext>
            </a:extLst>
          </p:cNvPr>
          <p:cNvSpPr/>
          <p:nvPr/>
        </p:nvSpPr>
        <p:spPr>
          <a:xfrm>
            <a:off x="254520" y="3783330"/>
            <a:ext cx="109728" cy="109728"/>
          </a:xfrm>
          <a:prstGeom prst="ellipse">
            <a:avLst/>
          </a:prstGeom>
          <a:solidFill>
            <a:srgbClr val="F96127"/>
          </a:solidFill>
          <a:ln w="12700">
            <a:solidFill>
              <a:srgbClr val="F96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32">
            <a:extLst>
              <a:ext uri="{FF2B5EF4-FFF2-40B4-BE49-F238E27FC236}">
                <a16:creationId xmlns:a16="http://schemas.microsoft.com/office/drawing/2014/main" id="{2480E362-2B87-D1DE-5734-38BF91099E4A}"/>
              </a:ext>
            </a:extLst>
          </p:cNvPr>
          <p:cNvSpPr/>
          <p:nvPr/>
        </p:nvSpPr>
        <p:spPr>
          <a:xfrm>
            <a:off x="446544" y="3719322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</a:rPr>
              <a:t>Cash Deployed Strategically — Not Lost</a:t>
            </a:r>
            <a:endParaRPr lang="en-US" sz="1100"/>
          </a:p>
        </p:txBody>
      </p:sp>
      <p:sp>
        <p:nvSpPr>
          <p:cNvPr id="86" name="Text 33">
            <a:extLst>
              <a:ext uri="{FF2B5EF4-FFF2-40B4-BE49-F238E27FC236}">
                <a16:creationId xmlns:a16="http://schemas.microsoft.com/office/drawing/2014/main" id="{04ADBBBF-9122-95A3-0605-7477C30347F7}"/>
              </a:ext>
            </a:extLst>
          </p:cNvPr>
          <p:cNvSpPr/>
          <p:nvPr/>
        </p:nvSpPr>
        <p:spPr>
          <a:xfrm>
            <a:off x="446544" y="3947922"/>
            <a:ext cx="3648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B9ABF"/>
                </a:solidFill>
              </a:rPr>
              <a:t>Cash fell from $890M to $399M as Celsius funded the Alani Nu deal. Total equity tripled to $1.18B, confirming value creation — not deterioration.</a:t>
            </a:r>
            <a:endParaRPr lang="en-US" sz="900"/>
          </a:p>
        </p:txBody>
      </p:sp>
      <p:sp>
        <p:nvSpPr>
          <p:cNvPr id="87" name="Shape 4">
            <a:extLst>
              <a:ext uri="{FF2B5EF4-FFF2-40B4-BE49-F238E27FC236}">
                <a16:creationId xmlns:a16="http://schemas.microsoft.com/office/drawing/2014/main" id="{014DD557-A226-56CF-36A0-5DF980812D5E}"/>
              </a:ext>
            </a:extLst>
          </p:cNvPr>
          <p:cNvSpPr/>
          <p:nvPr/>
        </p:nvSpPr>
        <p:spPr>
          <a:xfrm>
            <a:off x="281950" y="2578608"/>
            <a:ext cx="48003" cy="475488"/>
          </a:xfrm>
          <a:prstGeom prst="rect">
            <a:avLst/>
          </a:prstGeom>
          <a:solidFill>
            <a:srgbClr val="F96127"/>
          </a:solidFill>
          <a:ln w="12700">
            <a:solidFill>
              <a:srgbClr val="F96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401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E840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OVERVIEW — IS, BS, CFS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hart 0"/>
          <p:cNvGraphicFramePr/>
          <p:nvPr/>
        </p:nvGraphicFramePr>
        <p:xfrm>
          <a:off x="274319" y="1188719"/>
          <a:ext cx="4401047" cy="26358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93776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E840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FINANCIALS ($M)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937760" y="1463040"/>
          <a:ext cx="3922776" cy="2011681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96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$1,318M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$1,356M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$2,515M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$633M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$1,267M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Op. Income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$469M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$~200M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$~163M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$~64M*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 (diluted)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$0.25*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937760" y="3520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8B9A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*2025 EPS depressed by acquisition costs (Alani Nu $1.8B) — non-recurring. Forward EPS ~$0.91 consensus.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EDC62897-24CB-2895-60B7-1B4C4AF6DC81}"/>
              </a:ext>
            </a:extLst>
          </p:cNvPr>
          <p:cNvSpPr/>
          <p:nvPr/>
        </p:nvSpPr>
        <p:spPr>
          <a:xfrm>
            <a:off x="274319" y="3954781"/>
            <a:ext cx="1397977" cy="1078992"/>
          </a:xfrm>
          <a:prstGeom prst="rect">
            <a:avLst/>
          </a:prstGeom>
          <a:solidFill>
            <a:srgbClr val="1E2D4E"/>
          </a:solidFill>
          <a:ln w="12700">
            <a:solidFill>
              <a:srgbClr val="1E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E12E6460-140B-8153-2579-27B2761868C3}"/>
              </a:ext>
            </a:extLst>
          </p:cNvPr>
          <p:cNvSpPr/>
          <p:nvPr/>
        </p:nvSpPr>
        <p:spPr>
          <a:xfrm>
            <a:off x="274320" y="3954781"/>
            <a:ext cx="48003" cy="1078992"/>
          </a:xfrm>
          <a:prstGeom prst="rect">
            <a:avLst/>
          </a:prstGeom>
          <a:solidFill>
            <a:srgbClr val="F96127"/>
          </a:solidFill>
          <a:ln w="12700">
            <a:solidFill>
              <a:srgbClr val="F96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46321235-C578-0112-4705-992859E7211B}"/>
              </a:ext>
            </a:extLst>
          </p:cNvPr>
          <p:cNvSpPr/>
          <p:nvPr/>
        </p:nvSpPr>
        <p:spPr>
          <a:xfrm>
            <a:off x="438912" y="4000501"/>
            <a:ext cx="126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B9ABF"/>
                </a:solidFill>
              </a:rPr>
              <a:t>Revenue (2025)</a:t>
            </a:r>
            <a:endParaRPr lang="en-US" sz="75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0C13F115-B600-B4F1-6EA4-BE8CD8337E71}"/>
              </a:ext>
            </a:extLst>
          </p:cNvPr>
          <p:cNvSpPr/>
          <p:nvPr/>
        </p:nvSpPr>
        <p:spPr>
          <a:xfrm>
            <a:off x="438912" y="4192525"/>
            <a:ext cx="126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$2.5B</a:t>
            </a:r>
            <a:endParaRPr lang="en-US" sz="34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2E5B840D-7BA0-E945-47E7-6CF70615695F}"/>
              </a:ext>
            </a:extLst>
          </p:cNvPr>
          <p:cNvSpPr/>
          <p:nvPr/>
        </p:nvSpPr>
        <p:spPr>
          <a:xfrm>
            <a:off x="438912" y="4732021"/>
            <a:ext cx="126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F"/>
                </a:solidFill>
              </a:rPr>
              <a:t>85% YoY Growth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1332B6-7C55-0C9D-8F70-D2E37B666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1B4DA96-7800-455D-0A7F-AD81E190F59D}"/>
              </a:ext>
            </a:extLst>
          </p:cNvPr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40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74416CC-E680-5BD4-2312-79F005F383FE}"/>
              </a:ext>
            </a:extLst>
          </p:cNvPr>
          <p:cNvSpPr/>
          <p:nvPr/>
        </p:nvSpPr>
        <p:spPr>
          <a:xfrm>
            <a:off x="274320" y="2286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E84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OVERVIEW — IS, BS, CFFA</a:t>
            </a:r>
            <a:endParaRPr lang="en-US" sz="11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FBF38B2-E871-19E4-31CB-4112E0171ED0}"/>
              </a:ext>
            </a:extLst>
          </p:cNvPr>
          <p:cNvSpPr/>
          <p:nvPr/>
        </p:nvSpPr>
        <p:spPr>
          <a:xfrm>
            <a:off x="274320" y="51663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Cash Flow from Assets</a:t>
            </a:r>
            <a:endParaRPr lang="en-US" sz="1700"/>
          </a:p>
        </p:txBody>
      </p:sp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C90765B7-8ED3-4B77-FF70-53764B744ECE}"/>
              </a:ext>
            </a:extLst>
          </p:cNvPr>
          <p:cNvGraphicFramePr/>
          <p:nvPr/>
        </p:nvGraphicFramePr>
        <p:xfrm>
          <a:off x="548640" y="5669280"/>
          <a:ext cx="43891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>
            <a:extLst>
              <a:ext uri="{FF2B5EF4-FFF2-40B4-BE49-F238E27FC236}">
                <a16:creationId xmlns:a16="http://schemas.microsoft.com/office/drawing/2014/main" id="{61A1B848-A18C-FE37-6A3A-EE4A55253C56}"/>
              </a:ext>
            </a:extLst>
          </p:cNvPr>
          <p:cNvSpPr/>
          <p:nvPr/>
        </p:nvSpPr>
        <p:spPr>
          <a:xfrm>
            <a:off x="5212080" y="5669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E84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FINANCIALS ($M)</a:t>
            </a:r>
            <a:endParaRPr lang="en-US" sz="100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086D10B2-7406-A03E-4AAC-BC95B4FCD070}"/>
              </a:ext>
            </a:extLst>
          </p:cNvPr>
          <p:cNvGraphicFramePr>
            <a:graphicFrameLocks noGrp="1"/>
          </p:cNvGraphicFramePr>
          <p:nvPr/>
        </p:nvGraphicFramePr>
        <p:xfrm>
          <a:off x="5212080" y="5989320"/>
          <a:ext cx="3922776" cy="2011681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96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$1,318M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$1,356M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$2,515M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$633M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$680M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$1,267M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50.2%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Op. Income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$266M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$156M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$469M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$~200M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$~163M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$~64M*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 (diluted)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$0.83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$0.25*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>
            <a:extLst>
              <a:ext uri="{FF2B5EF4-FFF2-40B4-BE49-F238E27FC236}">
                <a16:creationId xmlns:a16="http://schemas.microsoft.com/office/drawing/2014/main" id="{B52F484F-33FE-D27C-48A1-E2D2D0368695}"/>
              </a:ext>
            </a:extLst>
          </p:cNvPr>
          <p:cNvSpPr/>
          <p:nvPr/>
        </p:nvSpPr>
        <p:spPr>
          <a:xfrm>
            <a:off x="5212080" y="8046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*2025 EPS depressed by acquisition costs (Alani Nu $1.8B) — non-recurring. Forward EPS ~$0.91 consensus.</a:t>
            </a:r>
            <a:endParaRPr lang="en-US" sz="85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3E053CF4-6FDE-E2BB-99B9-73F84D36CBA7}"/>
              </a:ext>
            </a:extLst>
          </p:cNvPr>
          <p:cNvSpPr/>
          <p:nvPr/>
        </p:nvSpPr>
        <p:spPr>
          <a:xfrm>
            <a:off x="548640" y="8092440"/>
            <a:ext cx="2103120" cy="548640"/>
          </a:xfrm>
          <a:prstGeom prst="rect">
            <a:avLst/>
          </a:prstGeom>
          <a:solidFill>
            <a:srgbClr val="1E2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1DEE1A4-9A59-D34B-77E0-48436523B258}"/>
              </a:ext>
            </a:extLst>
          </p:cNvPr>
          <p:cNvSpPr/>
          <p:nvPr/>
        </p:nvSpPr>
        <p:spPr>
          <a:xfrm>
            <a:off x="640080" y="81290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Ratio</a:t>
            </a:r>
            <a:endParaRPr lang="en-US" sz="90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9D4174AE-9202-F878-F7A7-9E55BF878295}"/>
              </a:ext>
            </a:extLst>
          </p:cNvPr>
          <p:cNvSpPr/>
          <p:nvPr/>
        </p:nvSpPr>
        <p:spPr>
          <a:xfrm>
            <a:off x="640080" y="83667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96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1.68x</a:t>
            </a:r>
            <a:endParaRPr lang="en-US" sz="12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009117D-F147-27E0-49E2-4E9357839A60}"/>
              </a:ext>
            </a:extLst>
          </p:cNvPr>
          <p:cNvSpPr/>
          <p:nvPr/>
        </p:nvSpPr>
        <p:spPr>
          <a:xfrm>
            <a:off x="1371600" y="8366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liquidity</a:t>
            </a:r>
            <a:endParaRPr lang="en-US" sz="85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A9B4D4E8-51AE-8983-FCEF-F6A2717760AE}"/>
              </a:ext>
            </a:extLst>
          </p:cNvPr>
          <p:cNvSpPr/>
          <p:nvPr/>
        </p:nvSpPr>
        <p:spPr>
          <a:xfrm>
            <a:off x="2788920" y="8092440"/>
            <a:ext cx="2103120" cy="548640"/>
          </a:xfrm>
          <a:prstGeom prst="rect">
            <a:avLst/>
          </a:prstGeom>
          <a:solidFill>
            <a:srgbClr val="1E2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A480B7ED-4344-E602-E08F-D47E90E063EC}"/>
              </a:ext>
            </a:extLst>
          </p:cNvPr>
          <p:cNvSpPr/>
          <p:nvPr/>
        </p:nvSpPr>
        <p:spPr>
          <a:xfrm>
            <a:off x="2880360" y="81290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Debt/Equity</a:t>
            </a:r>
            <a:endParaRPr lang="en-US" sz="90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49559B95-C93F-3806-D618-B1C4603556C8}"/>
              </a:ext>
            </a:extLst>
          </p:cNvPr>
          <p:cNvSpPr/>
          <p:nvPr/>
        </p:nvSpPr>
        <p:spPr>
          <a:xfrm>
            <a:off x="2880360" y="83667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96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0.23x</a:t>
            </a:r>
            <a:endParaRPr lang="en-US" sz="120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BA8F15F4-4953-CF29-BB70-0A71482F1381}"/>
              </a:ext>
            </a:extLst>
          </p:cNvPr>
          <p:cNvSpPr/>
          <p:nvPr/>
        </p:nvSpPr>
        <p:spPr>
          <a:xfrm>
            <a:off x="3611880" y="8366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leverage</a:t>
            </a:r>
            <a:endParaRPr lang="en-US" sz="85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AABEB4EA-6A3D-1220-BB17-AF185139CF70}"/>
              </a:ext>
            </a:extLst>
          </p:cNvPr>
          <p:cNvSpPr/>
          <p:nvPr/>
        </p:nvSpPr>
        <p:spPr>
          <a:xfrm>
            <a:off x="548640" y="8778240"/>
            <a:ext cx="2103120" cy="548640"/>
          </a:xfrm>
          <a:prstGeom prst="rect">
            <a:avLst/>
          </a:prstGeom>
          <a:solidFill>
            <a:srgbClr val="1E2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50C91817-C6D3-D7A6-AFF2-779F0743CDA1}"/>
              </a:ext>
            </a:extLst>
          </p:cNvPr>
          <p:cNvSpPr/>
          <p:nvPr/>
        </p:nvSpPr>
        <p:spPr>
          <a:xfrm>
            <a:off x="640080" y="8814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</a:t>
            </a:r>
            <a:endParaRPr lang="en-US" sz="90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4D398D7B-2655-68F1-5B7D-90CEE6A6D70B}"/>
              </a:ext>
            </a:extLst>
          </p:cNvPr>
          <p:cNvSpPr/>
          <p:nvPr/>
        </p:nvSpPr>
        <p:spPr>
          <a:xfrm>
            <a:off x="640080" y="90525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96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5.18%</a:t>
            </a:r>
            <a:endParaRPr lang="en-US" sz="120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76041C47-F8F1-5768-509D-08EA4ECDFDB0}"/>
              </a:ext>
            </a:extLst>
          </p:cNvPr>
          <p:cNvSpPr/>
          <p:nvPr/>
        </p:nvSpPr>
        <p:spPr>
          <a:xfrm>
            <a:off x="1371600" y="90525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Post-acq. normalization</a:t>
            </a:r>
            <a:endParaRPr lang="en-US" sz="85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BB94F081-EA6E-DC7D-0170-77FC30249039}"/>
              </a:ext>
            </a:extLst>
          </p:cNvPr>
          <p:cNvSpPr/>
          <p:nvPr/>
        </p:nvSpPr>
        <p:spPr>
          <a:xfrm>
            <a:off x="2788920" y="8778240"/>
            <a:ext cx="2103120" cy="548640"/>
          </a:xfrm>
          <a:prstGeom prst="rect">
            <a:avLst/>
          </a:prstGeom>
          <a:solidFill>
            <a:srgbClr val="1E2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BEEF8995-86F2-F277-1AC8-4801F4B95E44}"/>
              </a:ext>
            </a:extLst>
          </p:cNvPr>
          <p:cNvSpPr/>
          <p:nvPr/>
        </p:nvSpPr>
        <p:spPr>
          <a:xfrm>
            <a:off x="2880360" y="8814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ROIC</a:t>
            </a:r>
            <a:endParaRPr lang="en-US" sz="90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EC9ECD3-5BC4-F9B8-4F76-BEDB19AB63C9}"/>
              </a:ext>
            </a:extLst>
          </p:cNvPr>
          <p:cNvSpPr/>
          <p:nvPr/>
        </p:nvSpPr>
        <p:spPr>
          <a:xfrm>
            <a:off x="2880360" y="90525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96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12.92%</a:t>
            </a:r>
            <a:endParaRPr lang="en-US" sz="120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6DAFFE22-0D00-359C-9546-2CD6E7C55B62}"/>
              </a:ext>
            </a:extLst>
          </p:cNvPr>
          <p:cNvSpPr/>
          <p:nvPr/>
        </p:nvSpPr>
        <p:spPr>
          <a:xfrm>
            <a:off x="3611880" y="90525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with scale</a:t>
            </a:r>
            <a:endParaRPr lang="en-US" sz="850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E2A9E191-4085-6E7E-5318-8632AE5F75CE}"/>
              </a:ext>
            </a:extLst>
          </p:cNvPr>
          <p:cNvSpPr/>
          <p:nvPr/>
        </p:nvSpPr>
        <p:spPr>
          <a:xfrm>
            <a:off x="274320" y="3396848"/>
            <a:ext cx="8595360" cy="1563773"/>
          </a:xfrm>
          <a:prstGeom prst="rect">
            <a:avLst/>
          </a:prstGeom>
          <a:solidFill>
            <a:srgbClr val="1E2D4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96D804B0-BFB7-7EB5-1C80-CF696A2EF394}"/>
              </a:ext>
            </a:extLst>
          </p:cNvPr>
          <p:cNvSpPr/>
          <p:nvPr/>
        </p:nvSpPr>
        <p:spPr>
          <a:xfrm>
            <a:off x="457200" y="3506577"/>
            <a:ext cx="458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E8401C"/>
                </a:solidFill>
                <a:latin typeface="Calibri" pitchFamily="34" charset="0"/>
                <a:cs typeface="Calibri" pitchFamily="34" charset="-120"/>
              </a:rPr>
              <a:t>CFFA = Operating Cash Flow − Net Capital Spending − Change in NWC</a:t>
            </a:r>
            <a:endParaRPr lang="en-US" sz="100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7FC8D7D8-2692-812C-276D-A12FD5E07ED0}"/>
              </a:ext>
            </a:extLst>
          </p:cNvPr>
          <p:cNvSpPr/>
          <p:nvPr/>
        </p:nvSpPr>
        <p:spPr>
          <a:xfrm>
            <a:off x="457200" y="3808329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This measure is basically Free Cash Flow to the firm, and it represents what's available to pay both debt holders and equity holders. It is the purest measure of whether a business is creating or destroying value. </a:t>
            </a:r>
          </a:p>
          <a:p>
            <a:pPr marL="0" indent="0">
              <a:buNone/>
            </a:pPr>
            <a:endParaRPr lang="en-US" sz="1050" b="1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OCF — cash the operations generate before reinvestment | OCF = </a:t>
            </a:r>
            <a:r>
              <a:rPr lang="en-US" sz="1050" b="1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EBIT+Depreciation</a:t>
            </a:r>
            <a:r>
              <a:rPr lang="en-US" sz="1050" b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-Tax</a:t>
            </a:r>
          </a:p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NCS — cash spent on new assets | NCS = Ending net fixed assets  - beginning net fixed assets  + depreciation</a:t>
            </a:r>
          </a:p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Change in NWC — cash tied up (or released) in day-to-day working capital</a:t>
            </a:r>
          </a:p>
          <a:p>
            <a:pPr marL="0" indent="0">
              <a:buNone/>
            </a:pPr>
            <a:endParaRPr lang="en-US" sz="1050" b="1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endParaRPr lang="en-US" sz="105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2E9D03F4-D83F-1AEF-047B-6C94C8C3B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03606"/>
              </p:ext>
            </p:extLst>
          </p:nvPr>
        </p:nvGraphicFramePr>
        <p:xfrm>
          <a:off x="640081" y="868363"/>
          <a:ext cx="7980290" cy="2403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46663">
                  <a:extLst>
                    <a:ext uri="{9D8B030D-6E8A-4147-A177-3AD203B41FA5}">
                      <a16:colId xmlns:a16="http://schemas.microsoft.com/office/drawing/2014/main" val="2437624698"/>
                    </a:ext>
                  </a:extLst>
                </a:gridCol>
                <a:gridCol w="1201949">
                  <a:extLst>
                    <a:ext uri="{9D8B030D-6E8A-4147-A177-3AD203B41FA5}">
                      <a16:colId xmlns:a16="http://schemas.microsoft.com/office/drawing/2014/main" val="2862573222"/>
                    </a:ext>
                  </a:extLst>
                </a:gridCol>
                <a:gridCol w="1103831">
                  <a:extLst>
                    <a:ext uri="{9D8B030D-6E8A-4147-A177-3AD203B41FA5}">
                      <a16:colId xmlns:a16="http://schemas.microsoft.com/office/drawing/2014/main" val="650451676"/>
                    </a:ext>
                  </a:extLst>
                </a:gridCol>
                <a:gridCol w="1103831">
                  <a:extLst>
                    <a:ext uri="{9D8B030D-6E8A-4147-A177-3AD203B41FA5}">
                      <a16:colId xmlns:a16="http://schemas.microsoft.com/office/drawing/2014/main" val="510158492"/>
                    </a:ext>
                  </a:extLst>
                </a:gridCol>
                <a:gridCol w="1112008">
                  <a:extLst>
                    <a:ext uri="{9D8B030D-6E8A-4147-A177-3AD203B41FA5}">
                      <a16:colId xmlns:a16="http://schemas.microsoft.com/office/drawing/2014/main" val="4139258099"/>
                    </a:ext>
                  </a:extLst>
                </a:gridCol>
                <a:gridCol w="1112008">
                  <a:extLst>
                    <a:ext uri="{9D8B030D-6E8A-4147-A177-3AD203B41FA5}">
                      <a16:colId xmlns:a16="http://schemas.microsoft.com/office/drawing/2014/main" val="1995284948"/>
                    </a:ext>
                  </a:extLst>
                </a:gridCol>
              </a:tblGrid>
              <a:tr h="115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2021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2022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2023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2024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2025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extLst>
                  <a:ext uri="{0D108BD9-81ED-4DB2-BD59-A6C34878D82A}">
                    <a16:rowId xmlns:a16="http://schemas.microsoft.com/office/drawing/2014/main" val="636799739"/>
                  </a:ext>
                </a:extLst>
              </a:tr>
              <a:tr h="1824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EBIT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        (4,090.00)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(157,801.00)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266,366.00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 $                155,728.00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 $                141,062.00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extLst>
                  <a:ext uri="{0D108BD9-81ED-4DB2-BD59-A6C34878D82A}">
                    <a16:rowId xmlns:a16="http://schemas.microsoft.com/office/drawing/2014/main" val="2511299885"/>
                  </a:ext>
                </a:extLst>
              </a:tr>
              <a:tr h="1824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D&amp;A 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          1,916.00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      1,917.00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      3,226.00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      7,274.00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      7,275.00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extLst>
                  <a:ext uri="{0D108BD9-81ED-4DB2-BD59-A6C34878D82A}">
                    <a16:rowId xmlns:a16="http://schemas.microsoft.com/office/drawing/2014/main" val="2394509379"/>
                  </a:ext>
                </a:extLst>
              </a:tr>
              <a:tr h="1824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OCF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          5,822.00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(121,266.00)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334,540.00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212,978.00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165,371.00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extLst>
                  <a:ext uri="{0D108BD9-81ED-4DB2-BD59-A6C34878D82A}">
                    <a16:rowId xmlns:a16="http://schemas.microsoft.com/office/drawing/2014/main" val="2015895253"/>
                  </a:ext>
                </a:extLst>
              </a:tr>
              <a:tr h="1824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NCS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      8,922.00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   17,909.00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   38,008.00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   39,583.00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extLst>
                  <a:ext uri="{0D108BD9-81ED-4DB2-BD59-A6C34878D82A}">
                    <a16:rowId xmlns:a16="http://schemas.microsoft.com/office/drawing/2014/main" val="868611913"/>
                  </a:ext>
                </a:extLst>
              </a:tr>
              <a:tr h="1824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NWC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    169,237.00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756,676.00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928,291.00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959,045.00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732,428.00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extLst>
                  <a:ext uri="{0D108BD9-81ED-4DB2-BD59-A6C34878D82A}">
                    <a16:rowId xmlns:a16="http://schemas.microsoft.com/office/drawing/2014/main" val="4119036963"/>
                  </a:ext>
                </a:extLst>
              </a:tr>
              <a:tr h="1824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Change in NWC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587,439.00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171,615.00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   30,754.00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(226,617.00)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extLst>
                  <a:ext uri="{0D108BD9-81ED-4DB2-BD59-A6C34878D82A}">
                    <a16:rowId xmlns:a16="http://schemas.microsoft.com/office/drawing/2014/main" val="149050701"/>
                  </a:ext>
                </a:extLst>
              </a:tr>
              <a:tr h="115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extLst>
                  <a:ext uri="{0D108BD9-81ED-4DB2-BD59-A6C34878D82A}">
                    <a16:rowId xmlns:a16="http://schemas.microsoft.com/office/drawing/2014/main" val="3794167481"/>
                  </a:ext>
                </a:extLst>
              </a:tr>
              <a:tr h="1824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 CFFA 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 $              (717,627.00)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 $                145,016.00 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 $                144,216.00 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 $                352,405.00 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16657"/>
                  </a:ext>
                </a:extLst>
              </a:tr>
              <a:tr h="115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extLst>
                  <a:ext uri="{0D108BD9-81ED-4DB2-BD59-A6C34878D82A}">
                    <a16:rowId xmlns:a16="http://schemas.microsoft.com/office/drawing/2014/main" val="1123925593"/>
                  </a:ext>
                </a:extLst>
              </a:tr>
              <a:tr h="115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extLst>
                  <a:ext uri="{0D108BD9-81ED-4DB2-BD59-A6C34878D82A}">
                    <a16:rowId xmlns:a16="http://schemas.microsoft.com/office/drawing/2014/main" val="3378511388"/>
                  </a:ext>
                </a:extLst>
              </a:tr>
              <a:tr h="1824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    262,361.00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917,971.00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1,204,904.00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1,324,580.00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1,811,154.00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extLst>
                  <a:ext uri="{0D108BD9-81ED-4DB2-BD59-A6C34878D82A}">
                    <a16:rowId xmlns:a16="http://schemas.microsoft.com/office/drawing/2014/main" val="3446604508"/>
                  </a:ext>
                </a:extLst>
              </a:tr>
              <a:tr h="1824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       93,124.00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161,295.00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276,613.00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365,535.00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1,078,726.00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extLst>
                  <a:ext uri="{0D108BD9-81ED-4DB2-BD59-A6C34878D82A}">
                    <a16:rowId xmlns:a16="http://schemas.microsoft.com/office/drawing/2014/main" val="2606694480"/>
                  </a:ext>
                </a:extLst>
              </a:tr>
              <a:tr h="1824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NWC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    169,237.00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756,676.00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928,291.00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 $                959,045.00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 $                732,428.00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81" marR="7381" marT="7381" marB="0" anchor="b"/>
                </a:tc>
                <a:extLst>
                  <a:ext uri="{0D108BD9-81ED-4DB2-BD59-A6C34878D82A}">
                    <a16:rowId xmlns:a16="http://schemas.microsoft.com/office/drawing/2014/main" val="1745046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6363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24CA42-A114-E5EF-DE73-514233BD1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3508286-B230-995F-3A13-258F0109EBBF}"/>
              </a:ext>
            </a:extLst>
          </p:cNvPr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40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237D29B-891F-C609-F125-CBAB42E354CC}"/>
              </a:ext>
            </a:extLst>
          </p:cNvPr>
          <p:cNvSpPr/>
          <p:nvPr/>
        </p:nvSpPr>
        <p:spPr>
          <a:xfrm>
            <a:off x="274320" y="18289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4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ANALYSIS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9951A02-DA85-8389-AA36-B0E68F05962F}"/>
              </a:ext>
            </a:extLst>
          </p:cNvPr>
          <p:cNvSpPr/>
          <p:nvPr/>
        </p:nvSpPr>
        <p:spPr>
          <a:xfrm>
            <a:off x="27432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8BD9720-390D-06C4-2793-2F210B33BF21}"/>
              </a:ext>
            </a:extLst>
          </p:cNvPr>
          <p:cNvSpPr/>
          <p:nvPr/>
        </p:nvSpPr>
        <p:spPr>
          <a:xfrm>
            <a:off x="274320" y="607695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E84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COMPARISON</a:t>
            </a:r>
            <a:endParaRPr lang="en-US" sz="1000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91E5EC36-50E4-5941-B0C8-8ABEB17C6BA4}"/>
              </a:ext>
            </a:extLst>
          </p:cNvPr>
          <p:cNvGraphicFramePr>
            <a:graphicFrameLocks noGrp="1"/>
          </p:cNvGraphicFramePr>
          <p:nvPr/>
        </p:nvGraphicFramePr>
        <p:xfrm>
          <a:off x="274320" y="6396990"/>
          <a:ext cx="7863840" cy="1828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P/E (TTM)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Fwd P/E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 Growth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96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CELH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96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+85.5%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F96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MNST (Monster)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53.2%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KDP (Keurig Dr Pepper)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 (PepsiCo)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54.3%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Median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>
            <a:extLst>
              <a:ext uri="{FF2B5EF4-FFF2-40B4-BE49-F238E27FC236}">
                <a16:creationId xmlns:a16="http://schemas.microsoft.com/office/drawing/2014/main" id="{C804E503-30A9-47D6-77A6-A5E3E8A8E07A}"/>
              </a:ext>
            </a:extLst>
          </p:cNvPr>
          <p:cNvSpPr/>
          <p:nvPr/>
        </p:nvSpPr>
        <p:spPr>
          <a:xfrm>
            <a:off x="274320" y="8362950"/>
            <a:ext cx="8595360" cy="1508760"/>
          </a:xfrm>
          <a:prstGeom prst="rect">
            <a:avLst/>
          </a:prstGeom>
          <a:solidFill>
            <a:srgbClr val="1E2D4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E3D5251-BC5C-B869-D6D1-F1E82BF33947}"/>
              </a:ext>
            </a:extLst>
          </p:cNvPr>
          <p:cNvSpPr/>
          <p:nvPr/>
        </p:nvSpPr>
        <p:spPr>
          <a:xfrm>
            <a:off x="457200" y="847267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E84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CELH's P/E</a:t>
            </a:r>
            <a:endParaRPr lang="en-US" sz="100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4E397727-BD47-7EF3-F79E-103A0F217E53}"/>
              </a:ext>
            </a:extLst>
          </p:cNvPr>
          <p:cNvSpPr/>
          <p:nvPr/>
        </p:nvSpPr>
        <p:spPr>
          <a:xfrm>
            <a:off x="457200" y="877443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 = Stock Price / EPS.  </a:t>
            </a:r>
            <a:r>
              <a:rPr lang="en-US" sz="105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P/E = more investor confidence in future earnings growth, NOT necessarily overvalued.
CELH's TTM P/E (~141x) is distorted by Alani Nu acquisition costs. The Forward P/E (~38x) is the more meaningful signal here, reflecting expectations for normalized, growing earnings. EPS can grow via (1) net income increase or (2) share buybacks. Rising EPS alongside a stable/growing stock price = pure value creation.</a:t>
            </a:r>
            <a:endParaRPr lang="en-US" sz="105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B5338A1C-A433-2B37-B8B8-2CB66D43E372}"/>
              </a:ext>
            </a:extLst>
          </p:cNvPr>
          <p:cNvSpPr/>
          <p:nvPr/>
        </p:nvSpPr>
        <p:spPr>
          <a:xfrm>
            <a:off x="274320" y="374902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Liquidity – m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oving from over liquid to a more efficient use of assets. Company is deploying cash instead of holding it. 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Leverage – 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Total Debt Ratio very stable ~0.29 → rises to 0.43 (2025) financing more assets with debt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Efficiency –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Days sales in Inventory is strongly decreased from 375 (2021) to 98 (2025). 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Profitability –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ROA, ROE, and PM all peaked in 2023 and have slowed a little bit since then. There’s room for improvement since they have to lower the cost of revenue. </a:t>
            </a:r>
          </a:p>
          <a:p>
            <a:pPr marL="0" indent="0">
              <a:buNone/>
            </a:pPr>
            <a:endParaRPr lang="en-US" sz="105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8E87A37-D2E4-E6BD-F605-147A4A40D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182517"/>
              </p:ext>
            </p:extLst>
          </p:nvPr>
        </p:nvGraphicFramePr>
        <p:xfrm>
          <a:off x="457200" y="667512"/>
          <a:ext cx="7886699" cy="27145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9249">
                  <a:extLst>
                    <a:ext uri="{9D8B030D-6E8A-4147-A177-3AD203B41FA5}">
                      <a16:colId xmlns:a16="http://schemas.microsoft.com/office/drawing/2014/main" val="2431179469"/>
                    </a:ext>
                  </a:extLst>
                </a:gridCol>
                <a:gridCol w="1269249">
                  <a:extLst>
                    <a:ext uri="{9D8B030D-6E8A-4147-A177-3AD203B41FA5}">
                      <a16:colId xmlns:a16="http://schemas.microsoft.com/office/drawing/2014/main" val="3756815508"/>
                    </a:ext>
                  </a:extLst>
                </a:gridCol>
                <a:gridCol w="1442821">
                  <a:extLst>
                    <a:ext uri="{9D8B030D-6E8A-4147-A177-3AD203B41FA5}">
                      <a16:colId xmlns:a16="http://schemas.microsoft.com/office/drawing/2014/main" val="1811754314"/>
                    </a:ext>
                  </a:extLst>
                </a:gridCol>
                <a:gridCol w="1442821">
                  <a:extLst>
                    <a:ext uri="{9D8B030D-6E8A-4147-A177-3AD203B41FA5}">
                      <a16:colId xmlns:a16="http://schemas.microsoft.com/office/drawing/2014/main" val="339616400"/>
                    </a:ext>
                  </a:extLst>
                </a:gridCol>
                <a:gridCol w="1442821">
                  <a:extLst>
                    <a:ext uri="{9D8B030D-6E8A-4147-A177-3AD203B41FA5}">
                      <a16:colId xmlns:a16="http://schemas.microsoft.com/office/drawing/2014/main" val="3569303878"/>
                    </a:ext>
                  </a:extLst>
                </a:gridCol>
                <a:gridCol w="1019738">
                  <a:extLst>
                    <a:ext uri="{9D8B030D-6E8A-4147-A177-3AD203B41FA5}">
                      <a16:colId xmlns:a16="http://schemas.microsoft.com/office/drawing/2014/main" val="2747009236"/>
                    </a:ext>
                  </a:extLst>
                </a:gridCol>
              </a:tblGrid>
              <a:tr h="1735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2021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2022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2023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2024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2025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extLst>
                  <a:ext uri="{0D108BD9-81ED-4DB2-BD59-A6C34878D82A}">
                    <a16:rowId xmlns:a16="http://schemas.microsoft.com/office/drawing/2014/main" val="1871459861"/>
                  </a:ext>
                </a:extLst>
              </a:tr>
              <a:tr h="1735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CR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2.82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5.69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4.36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3.62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1.68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82034"/>
                  </a:ext>
                </a:extLst>
              </a:tr>
              <a:tr h="1735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QR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0.76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4.62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3.53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3.26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1.37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extLst>
                  <a:ext uri="{0D108BD9-81ED-4DB2-BD59-A6C34878D82A}">
                    <a16:rowId xmlns:a16="http://schemas.microsoft.com/office/drawing/2014/main" val="1240280291"/>
                  </a:ext>
                </a:extLst>
              </a:tr>
              <a:tr h="1735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Cash Ratio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3.81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2.73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2.44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extLst>
                  <a:ext uri="{0D108BD9-81ED-4DB2-BD59-A6C34878D82A}">
                    <a16:rowId xmlns:a16="http://schemas.microsoft.com/office/drawing/2014/main" val="1146465960"/>
                  </a:ext>
                </a:extLst>
              </a:tr>
              <a:tr h="1735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Total Debt Ratio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0.29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0.29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0.43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315068"/>
                  </a:ext>
                </a:extLst>
              </a:tr>
              <a:tr h="1735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Debt to Equity Ratio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0.45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8.92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1.70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1.36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1.84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extLst>
                  <a:ext uri="{0D108BD9-81ED-4DB2-BD59-A6C34878D82A}">
                    <a16:rowId xmlns:a16="http://schemas.microsoft.com/office/drawing/2014/main" val="193119011"/>
                  </a:ext>
                </a:extLst>
              </a:tr>
              <a:tr h="1627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Inventory Turnover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0.97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2.21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2.99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5.15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3.70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extLst>
                  <a:ext uri="{0D108BD9-81ED-4DB2-BD59-A6C34878D82A}">
                    <a16:rowId xmlns:a16="http://schemas.microsoft.com/office/drawing/2014/main" val="1932329297"/>
                  </a:ext>
                </a:extLst>
              </a:tr>
              <a:tr h="1735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Days' Sales in Inventory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375.04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165.26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122.19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70.88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98.77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904193"/>
                  </a:ext>
                </a:extLst>
              </a:tr>
              <a:tr h="1627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Receivables Turnover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8.11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10.32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7.17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5.01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3.33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extLst>
                  <a:ext uri="{0D108BD9-81ED-4DB2-BD59-A6C34878D82A}">
                    <a16:rowId xmlns:a16="http://schemas.microsoft.com/office/drawing/2014/main" val="2999886765"/>
                  </a:ext>
                </a:extLst>
              </a:tr>
              <a:tr h="2069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Days' Sales in Receivables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44.99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35.36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50.87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72.79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109.63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578504"/>
                  </a:ext>
                </a:extLst>
              </a:tr>
              <a:tr h="2945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Total Assets Turnover Ratio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1.00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0.86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0.77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0.49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extLst>
                  <a:ext uri="{0D108BD9-81ED-4DB2-BD59-A6C34878D82A}">
                    <a16:rowId xmlns:a16="http://schemas.microsoft.com/office/drawing/2014/main" val="246536552"/>
                  </a:ext>
                </a:extLst>
              </a:tr>
              <a:tr h="1735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Capital Intensity Ratio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1.00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1.87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1.17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1.30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2.04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/>
                </a:tc>
                <a:extLst>
                  <a:ext uri="{0D108BD9-81ED-4DB2-BD59-A6C34878D82A}">
                    <a16:rowId xmlns:a16="http://schemas.microsoft.com/office/drawing/2014/main" val="197669011"/>
                  </a:ext>
                </a:extLst>
              </a:tr>
              <a:tr h="1735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ROA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1.25%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-15.32%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14.76%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8.21%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2.11%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377231"/>
                  </a:ext>
                </a:extLst>
              </a:tr>
              <a:tr h="1627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ROE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1.81%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-467.14%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85.90%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36.27%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9.14%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443179"/>
                  </a:ext>
                </a:extLst>
              </a:tr>
              <a:tr h="1627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PM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1.25%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-28.65%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17.21%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10.70%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4.29%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22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2873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40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4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RATIO — CELH vs PEERS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P/E signals market confidence in future earnings growth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274320" y="607695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E84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COMPARISON</a:t>
            </a:r>
            <a:endParaRPr lang="en-US" sz="100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355642"/>
              </p:ext>
            </p:extLst>
          </p:nvPr>
        </p:nvGraphicFramePr>
        <p:xfrm>
          <a:off x="274320" y="6396990"/>
          <a:ext cx="7863840" cy="1828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P/E (TTM)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Fwd P/E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 Growth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96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CELH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96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+85.5%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F96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MNST (Monster)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53.2%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KDP (Keurig Dr Pepper)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 (PepsiCo)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54.3%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Median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8362950"/>
            <a:ext cx="8595360" cy="1508760"/>
          </a:xfrm>
          <a:prstGeom prst="rect">
            <a:avLst/>
          </a:prstGeom>
          <a:solidFill>
            <a:srgbClr val="1E2D4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847267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E84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CELH's P/E</a:t>
            </a:r>
            <a:endParaRPr lang="en-US" sz="1000"/>
          </a:p>
        </p:txBody>
      </p:sp>
      <p:sp>
        <p:nvSpPr>
          <p:cNvPr id="6" name="Text 6"/>
          <p:cNvSpPr/>
          <p:nvPr/>
        </p:nvSpPr>
        <p:spPr>
          <a:xfrm>
            <a:off x="457200" y="877443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 = Stock Price / EPS.  </a:t>
            </a:r>
            <a:r>
              <a:rPr lang="en-US" sz="105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P/E = more investor confidence in future earnings growth, NOT necessarily overvalued.
CELH's TTM P/E (~141x) is distorted by Alani Nu acquisition costs. The Forward P/E (~38x) is the more meaningful signal here, reflecting expectations for normalized, growing earnings. EPS can grow via (1) net income increase or (2) share buybacks. Rising EPS alongside a stable/growing stock price = pure value creation.</a:t>
            </a:r>
            <a:endParaRPr lang="en-US" sz="10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B15E43-1952-8426-F0BB-34DD9B95A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09" y="1311082"/>
            <a:ext cx="6647777" cy="28347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AF8913-AFE4-B1E0-4780-A5DCB3854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4322" y="1569940"/>
            <a:ext cx="1095869" cy="21636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5D3EF0-56E2-2549-E252-63C205BE8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BCFB42-F63D-831C-1822-948E13FF5BF5}"/>
              </a:ext>
            </a:extLst>
          </p:cNvPr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401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1686DC6-061B-2EBB-3079-F4C5AE710B09}"/>
              </a:ext>
            </a:extLst>
          </p:cNvPr>
          <p:cNvSpPr/>
          <p:nvPr/>
        </p:nvSpPr>
        <p:spPr>
          <a:xfrm>
            <a:off x="274320" y="2286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E840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RETURN METRICS — CELH vs PEERS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9B92E67-77DD-0D18-8655-A899B1BB7EC2}"/>
              </a:ext>
            </a:extLst>
          </p:cNvPr>
          <p:cNvSpPr/>
          <p:nvPr/>
        </p:nvSpPr>
        <p:spPr>
          <a:xfrm>
            <a:off x="27432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CELH delivers superior risk-adjusted returns (Sharpe 0.97, Sortino 1.67) despite higher volatility — outperforming peers on an annualized basis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B176A00-C67D-A99F-367E-95E6BC53CFF9}"/>
              </a:ext>
            </a:extLst>
          </p:cNvPr>
          <p:cNvSpPr/>
          <p:nvPr/>
        </p:nvSpPr>
        <p:spPr>
          <a:xfrm>
            <a:off x="274320" y="607695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>
                <a:ln>
                  <a:noFill/>
                </a:ln>
                <a:solidFill>
                  <a:srgbClr val="E840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PEER COMPARISON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46F16E1F-C3E0-08C9-F669-E6E6CC609DF1}"/>
              </a:ext>
            </a:extLst>
          </p:cNvPr>
          <p:cNvGraphicFramePr>
            <a:graphicFrameLocks noGrp="1"/>
          </p:cNvGraphicFramePr>
          <p:nvPr/>
        </p:nvGraphicFramePr>
        <p:xfrm>
          <a:off x="274320" y="6396990"/>
          <a:ext cx="7863840" cy="1828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P/E (TTM)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Fwd P/E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 Growth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96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CELH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96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+85.5%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F96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MNST (Monster)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53.2%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KDP (Keurig Dr Pepper)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 (PepsiCo)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54.3%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Median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8B9A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>
            <a:extLst>
              <a:ext uri="{FF2B5EF4-FFF2-40B4-BE49-F238E27FC236}">
                <a16:creationId xmlns:a16="http://schemas.microsoft.com/office/drawing/2014/main" id="{3765F026-835E-B778-8BCF-00431A606287}"/>
              </a:ext>
            </a:extLst>
          </p:cNvPr>
          <p:cNvSpPr/>
          <p:nvPr/>
        </p:nvSpPr>
        <p:spPr>
          <a:xfrm>
            <a:off x="274320" y="8362950"/>
            <a:ext cx="8595360" cy="1508760"/>
          </a:xfrm>
          <a:prstGeom prst="rect">
            <a:avLst/>
          </a:prstGeom>
          <a:solidFill>
            <a:srgbClr val="1E2D4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81E8A91-8197-51D4-034A-44429F2B9197}"/>
              </a:ext>
            </a:extLst>
          </p:cNvPr>
          <p:cNvSpPr/>
          <p:nvPr/>
        </p:nvSpPr>
        <p:spPr>
          <a:xfrm>
            <a:off x="457200" y="847267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>
                <a:ln>
                  <a:noFill/>
                </a:ln>
                <a:solidFill>
                  <a:srgbClr val="E840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CELH's P/E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DA253439-433E-B4E3-C878-D054B360C304}"/>
              </a:ext>
            </a:extLst>
          </p:cNvPr>
          <p:cNvSpPr/>
          <p:nvPr/>
        </p:nvSpPr>
        <p:spPr>
          <a:xfrm>
            <a:off x="457200" y="877443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P/E = Stock Price / EPS.  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8B9A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Higher P/E = more investor confidence in future earnings growth, NOT necessarily overvalued.
CELH's TTM P/E (~141x) is distorted by Alani Nu acquisition costs. The Forward P/E (~38x) is the more meaningful signal here, reflecting expectations for normalized, growing earnings. EPS can grow via (1) net income increase or (2) share buybacks. Rising EPS alongside a stable/growing stock price = pure value creation.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BCFFB58-C7FD-12BB-C1BA-504157F5D11A}"/>
              </a:ext>
            </a:extLst>
          </p:cNvPr>
          <p:cNvGraphicFramePr>
            <a:graphicFrameLocks noGrp="1"/>
          </p:cNvGraphicFramePr>
          <p:nvPr/>
        </p:nvGraphicFramePr>
        <p:xfrm>
          <a:off x="279400" y="1054100"/>
          <a:ext cx="41783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5465">
                  <a:extLst>
                    <a:ext uri="{9D8B030D-6E8A-4147-A177-3AD203B41FA5}">
                      <a16:colId xmlns:a16="http://schemas.microsoft.com/office/drawing/2014/main" val="801565154"/>
                    </a:ext>
                  </a:extLst>
                </a:gridCol>
                <a:gridCol w="1750369">
                  <a:extLst>
                    <a:ext uri="{9D8B030D-6E8A-4147-A177-3AD203B41FA5}">
                      <a16:colId xmlns:a16="http://schemas.microsoft.com/office/drawing/2014/main" val="768259421"/>
                    </a:ext>
                  </a:extLst>
                </a:gridCol>
                <a:gridCol w="982466">
                  <a:extLst>
                    <a:ext uri="{9D8B030D-6E8A-4147-A177-3AD203B41FA5}">
                      <a16:colId xmlns:a16="http://schemas.microsoft.com/office/drawing/2014/main" val="134430830"/>
                    </a:ext>
                  </a:extLst>
                </a:gridCol>
              </a:tblGrid>
              <a:tr h="203200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Risk Measures for Celsius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511676"/>
                  </a:ext>
                </a:extLst>
              </a:tr>
              <a:tr h="203200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Return Annualized Average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77.16%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5648939"/>
                  </a:ext>
                </a:extLst>
              </a:tr>
              <a:tr h="203200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Return Annualized (Geometric)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115.1%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24943182"/>
                  </a:ext>
                </a:extLst>
              </a:tr>
              <a:tr h="203200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Annualized Volatility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75.89%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33269449"/>
                  </a:ext>
                </a:extLst>
              </a:tr>
              <a:tr h="203200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Maximum Drawdown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-76.52%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965898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Sharpe Ratio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0.9680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0142221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Sortino Ratio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1.6659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798397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Correlation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0.3959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8695007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BETA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1.5550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2057582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ED11AD2-DB7D-1133-2E6A-9D43B09DB1DC}"/>
              </a:ext>
            </a:extLst>
          </p:cNvPr>
          <p:cNvGraphicFramePr>
            <a:graphicFrameLocks noGrp="1"/>
          </p:cNvGraphicFramePr>
          <p:nvPr/>
        </p:nvGraphicFramePr>
        <p:xfrm>
          <a:off x="4686300" y="1054100"/>
          <a:ext cx="41783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5465">
                  <a:extLst>
                    <a:ext uri="{9D8B030D-6E8A-4147-A177-3AD203B41FA5}">
                      <a16:colId xmlns:a16="http://schemas.microsoft.com/office/drawing/2014/main" val="2735032318"/>
                    </a:ext>
                  </a:extLst>
                </a:gridCol>
                <a:gridCol w="1750369">
                  <a:extLst>
                    <a:ext uri="{9D8B030D-6E8A-4147-A177-3AD203B41FA5}">
                      <a16:colId xmlns:a16="http://schemas.microsoft.com/office/drawing/2014/main" val="3183869593"/>
                    </a:ext>
                  </a:extLst>
                </a:gridCol>
                <a:gridCol w="982466">
                  <a:extLst>
                    <a:ext uri="{9D8B030D-6E8A-4147-A177-3AD203B41FA5}">
                      <a16:colId xmlns:a16="http://schemas.microsoft.com/office/drawing/2014/main" val="1782506032"/>
                    </a:ext>
                  </a:extLst>
                </a:gridCol>
              </a:tblGrid>
              <a:tr h="203200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Risk Measures for Monster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365741"/>
                  </a:ext>
                </a:extLst>
              </a:tr>
              <a:tr h="203200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Return Annualized Average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16.96%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28759509"/>
                  </a:ext>
                </a:extLst>
              </a:tr>
              <a:tr h="203200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Return Annualized (Geometric)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18.4%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42820450"/>
                  </a:ext>
                </a:extLst>
              </a:tr>
              <a:tr h="203200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Annualized Volatility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25.17%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7732851"/>
                  </a:ext>
                </a:extLst>
              </a:tr>
              <a:tr h="203200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Maximum Drawdown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-25.80%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844623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Sharpe Ratio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0.5271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2981575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Sortino Ratio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0.7340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68572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Correlation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0.5534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9053318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BETA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0.7209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4431251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0F533AD-2FB7-C214-AEC8-798F087B83AC}"/>
              </a:ext>
            </a:extLst>
          </p:cNvPr>
          <p:cNvGraphicFramePr>
            <a:graphicFrameLocks noGrp="1"/>
          </p:cNvGraphicFramePr>
          <p:nvPr/>
        </p:nvGraphicFramePr>
        <p:xfrm>
          <a:off x="279400" y="3060700"/>
          <a:ext cx="41783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5465">
                  <a:extLst>
                    <a:ext uri="{9D8B030D-6E8A-4147-A177-3AD203B41FA5}">
                      <a16:colId xmlns:a16="http://schemas.microsoft.com/office/drawing/2014/main" val="3444293892"/>
                    </a:ext>
                  </a:extLst>
                </a:gridCol>
                <a:gridCol w="1750369">
                  <a:extLst>
                    <a:ext uri="{9D8B030D-6E8A-4147-A177-3AD203B41FA5}">
                      <a16:colId xmlns:a16="http://schemas.microsoft.com/office/drawing/2014/main" val="1609788818"/>
                    </a:ext>
                  </a:extLst>
                </a:gridCol>
                <a:gridCol w="982466">
                  <a:extLst>
                    <a:ext uri="{9D8B030D-6E8A-4147-A177-3AD203B41FA5}">
                      <a16:colId xmlns:a16="http://schemas.microsoft.com/office/drawing/2014/main" val="3662258308"/>
                    </a:ext>
                  </a:extLst>
                </a:gridCol>
              </a:tblGrid>
              <a:tr h="203200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Risk Measures for PepsiCo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538687"/>
                  </a:ext>
                </a:extLst>
              </a:tr>
              <a:tr h="203200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Return Annualized Average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4.34%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49187388"/>
                  </a:ext>
                </a:extLst>
              </a:tr>
              <a:tr h="203200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Return Annualized (Geometric)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4.4%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3729997"/>
                  </a:ext>
                </a:extLst>
              </a:tr>
              <a:tr h="203200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Annualized Volatility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21.08%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32575094"/>
                  </a:ext>
                </a:extLst>
              </a:tr>
              <a:tr h="203200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Maximum Drawdown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-34.19%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74405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Sharpe Ratio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0.0307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1029501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Sortino Ratio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0.0426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247490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Correlation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0.5163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3251575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BETA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0.5632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14246249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1D67D5B-D764-20C4-8573-C417AD124763}"/>
              </a:ext>
            </a:extLst>
          </p:cNvPr>
          <p:cNvGraphicFramePr>
            <a:graphicFrameLocks noGrp="1"/>
          </p:cNvGraphicFramePr>
          <p:nvPr/>
        </p:nvGraphicFramePr>
        <p:xfrm>
          <a:off x="4686300" y="3060700"/>
          <a:ext cx="41783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5465">
                  <a:extLst>
                    <a:ext uri="{9D8B030D-6E8A-4147-A177-3AD203B41FA5}">
                      <a16:colId xmlns:a16="http://schemas.microsoft.com/office/drawing/2014/main" val="848121393"/>
                    </a:ext>
                  </a:extLst>
                </a:gridCol>
                <a:gridCol w="1750369">
                  <a:extLst>
                    <a:ext uri="{9D8B030D-6E8A-4147-A177-3AD203B41FA5}">
                      <a16:colId xmlns:a16="http://schemas.microsoft.com/office/drawing/2014/main" val="571984333"/>
                    </a:ext>
                  </a:extLst>
                </a:gridCol>
                <a:gridCol w="982466">
                  <a:extLst>
                    <a:ext uri="{9D8B030D-6E8A-4147-A177-3AD203B41FA5}">
                      <a16:colId xmlns:a16="http://schemas.microsoft.com/office/drawing/2014/main" val="905249773"/>
                    </a:ext>
                  </a:extLst>
                </a:gridCol>
              </a:tblGrid>
              <a:tr h="203200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Risk Measures for Coca-Cola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376969"/>
                  </a:ext>
                </a:extLst>
              </a:tr>
              <a:tr h="203200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Return Annualized Average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38.56%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78837186"/>
                  </a:ext>
                </a:extLst>
              </a:tr>
              <a:tr h="203200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Return Annualized (Geometric)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46.8%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39162200"/>
                  </a:ext>
                </a:extLst>
              </a:tr>
              <a:tr h="203200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Annualized Volatility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39.40%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93960416"/>
                  </a:ext>
                </a:extLst>
              </a:tr>
              <a:tr h="203200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Maximum Drawdown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-33.51%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3047318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Sharpe Ratio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0.8850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0980955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Sortino Ratio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1.3214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1761556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Correlation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0.3959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3735522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BETA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0.8073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50205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5183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40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E84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CONCLUSION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960120"/>
          </a:xfrm>
          <a:prstGeom prst="rect">
            <a:avLst/>
          </a:prstGeom>
          <a:solidFill>
            <a:srgbClr val="E8401C">
              <a:alpha val="10000"/>
            </a:srgbClr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1097280" cy="960120"/>
          </a:xfrm>
          <a:prstGeom prst="rect">
            <a:avLst/>
          </a:prstGeom>
          <a:solidFill>
            <a:srgbClr val="E840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BUY</a:t>
            </a:r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1463040" y="85039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Target: $75–$85  |  ~90% Upside  |  12–18 Month Horizon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1463040" y="12527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Conviction: Secular growth story + distribution moat + multi-brand portfolio expansion + strong financials 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2788920" cy="1097280"/>
          </a:xfrm>
          <a:prstGeom prst="rect">
            <a:avLst/>
          </a:prstGeom>
          <a:solidFill>
            <a:srgbClr val="1E2D4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2788920" cy="64008"/>
          </a:xfrm>
          <a:prstGeom prst="rect">
            <a:avLst/>
          </a:prstGeom>
          <a:solidFill>
            <a:srgbClr val="E840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011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E84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/>
          </a:p>
        </p:txBody>
      </p:sp>
      <p:sp>
        <p:nvSpPr>
          <p:cNvPr id="12" name="Text 10"/>
          <p:cNvSpPr/>
          <p:nvPr/>
        </p:nvSpPr>
        <p:spPr>
          <a:xfrm>
            <a:off x="713232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Fit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365760" y="23317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beverages are secular, not cyclical. Rate environment favors re-rating of durable growth names.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1874520"/>
            <a:ext cx="2788920" cy="1097280"/>
          </a:xfrm>
          <a:prstGeom prst="rect">
            <a:avLst/>
          </a:prstGeom>
          <a:solidFill>
            <a:srgbClr val="1E2D4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0" y="1874520"/>
            <a:ext cx="2788920" cy="6400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0" y="2011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/>
          </a:p>
        </p:txBody>
      </p:sp>
      <p:sp>
        <p:nvSpPr>
          <p:cNvPr id="17" name="Text 15"/>
          <p:cNvSpPr/>
          <p:nvPr/>
        </p:nvSpPr>
        <p:spPr>
          <a:xfrm>
            <a:off x="3639312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Crowded Trade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3291840" y="23317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CELH is not NVIDIA or Mag-7. Low correlation (0.40) to S&amp;P 500. Room for discovery and institutional accumulation.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6126480" y="1874520"/>
            <a:ext cx="2788920" cy="1097280"/>
          </a:xfrm>
          <a:prstGeom prst="rect">
            <a:avLst/>
          </a:prstGeom>
          <a:solidFill>
            <a:srgbClr val="1E2D4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26480" y="1874520"/>
            <a:ext cx="2788920" cy="64008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0" y="2011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/>
          </a:p>
        </p:txBody>
      </p:sp>
      <p:sp>
        <p:nvSpPr>
          <p:cNvPr id="22" name="Text 20"/>
          <p:cNvSpPr/>
          <p:nvPr/>
        </p:nvSpPr>
        <p:spPr>
          <a:xfrm>
            <a:off x="6565392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Architecture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6217920" y="23317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Celsius + Alani Nu + Rockstar = ~17-20% of US market. Three distinct demographics. One platform.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274320" y="3108960"/>
            <a:ext cx="2788920" cy="1097280"/>
          </a:xfrm>
          <a:prstGeom prst="rect">
            <a:avLst/>
          </a:prstGeom>
          <a:solidFill>
            <a:srgbClr val="1E2D4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3108960"/>
            <a:ext cx="2788920" cy="64008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32461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E91E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/>
          </a:p>
        </p:txBody>
      </p:sp>
      <p:sp>
        <p:nvSpPr>
          <p:cNvPr id="27" name="Text 25"/>
          <p:cNvSpPr/>
          <p:nvPr/>
        </p:nvSpPr>
        <p:spPr>
          <a:xfrm>
            <a:off x="713232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PepsiCo Moat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365760" y="35661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distribution via PepsiCo's network with a board seat and $1.1B invested. The distribution advantage is nearly irreplicable.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0" y="3108960"/>
            <a:ext cx="2788920" cy="1097280"/>
          </a:xfrm>
          <a:prstGeom prst="rect">
            <a:avLst/>
          </a:prstGeom>
          <a:solidFill>
            <a:srgbClr val="1E2D4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00400" y="3108960"/>
            <a:ext cx="2788920" cy="64008"/>
          </a:xfrm>
          <a:prstGeom prst="rect">
            <a:avLst/>
          </a:prstGeom>
          <a:solidFill>
            <a:srgbClr val="F961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91840" y="32461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96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/>
          </a:p>
        </p:txBody>
      </p:sp>
      <p:sp>
        <p:nvSpPr>
          <p:cNvPr id="32" name="Text 30"/>
          <p:cNvSpPr/>
          <p:nvPr/>
        </p:nvSpPr>
        <p:spPr>
          <a:xfrm>
            <a:off x="3639312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3291840" y="35661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revenue $2.5B (85% YoY). Forward P/E 38x reasonable. EPS to recover as acquisition costs normalize. Strong balance sheet (D/E 0.23x). 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26480" y="3108960"/>
            <a:ext cx="2788920" cy="1097280"/>
          </a:xfrm>
          <a:prstGeom prst="rect">
            <a:avLst/>
          </a:prstGeom>
          <a:solidFill>
            <a:srgbClr val="1E2D4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26480" y="3108960"/>
            <a:ext cx="2788920" cy="64008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17920" y="32461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565392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Upside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6217920" y="35661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Buy Rating from Analysts – $75–$85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8B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 ~$35 representing good entry point.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0D9BD9F-9758-C546-9B1C-844B81A99A20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7c4353d3-349e-429c-97c3-79db4d24f60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2937</Words>
  <Application>Microsoft Macintosh PowerPoint</Application>
  <PresentationFormat>On-screen Show (16:9)</PresentationFormat>
  <Paragraphs>647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Narrow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Celsius Holdings (CELH) - Stock Pitch</dc:title>
  <dc:subject>PptxGenJS Presentation</dc:subject>
  <dc:creator>PptxGenJS</dc:creator>
  <cp:lastModifiedBy>Arturo Fraile Beltran</cp:lastModifiedBy>
  <cp:revision>3</cp:revision>
  <dcterms:created xsi:type="dcterms:W3CDTF">2026-04-17T00:54:33Z</dcterms:created>
  <dcterms:modified xsi:type="dcterms:W3CDTF">2026-04-21T00:04:20Z</dcterms:modified>
</cp:coreProperties>
</file>