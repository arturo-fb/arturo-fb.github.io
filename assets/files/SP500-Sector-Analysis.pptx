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98d7b6a93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98d7b6a93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99e09d640e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99e09d640e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a33f50e62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a33f50e62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Based on the descriptive statistics, the S&amp;P 500 and Technology sectors have the highest average values, suggesting stronger overall performance. Real Estate and Utilities, in contrast, show lower means, indicating more stable but slower growth sectors. The standard deviation reveals that Technology and Energy are the most volatile, meaning their performance fluctuates more significantly compared to others such as Real Estate or Materials, which display more stability. Across all sectors, skewness values close to zero and negative kurtosis suggest relatively balanced distributions without many extreme outliers. Overall, the data shows that higher-performing sectors tend to have higher volatility, while defensive sectors like Utilities and Consumer Staples remain more stable.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a33f50e623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a33f50e623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Times New Roman"/>
                <a:ea typeface="Times New Roman"/>
                <a:cs typeface="Times New Roman"/>
                <a:sym typeface="Times New Roman"/>
              </a:rPr>
              <a:t>S&amp;P 500 and technology are highly correlated</a:t>
            </a:r>
            <a:endParaRPr sz="12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200">
                <a:latin typeface="Times New Roman"/>
                <a:ea typeface="Times New Roman"/>
                <a:cs typeface="Times New Roman"/>
                <a:sym typeface="Times New Roman"/>
              </a:rPr>
              <a:t>Others are more steady, do not contribute as much to the S&amp;P </a:t>
            </a:r>
            <a:endParaRPr sz="1300">
              <a:solidFill>
                <a:srgbClr val="242424"/>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a33f50e623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a33f50e623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S&amp;P 500 and technology are more </a:t>
            </a:r>
            <a:r>
              <a:rPr lang="en"/>
              <a:t>volatile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99e09d640e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99e09d640e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a33f50e623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a33f50e62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a33f50e623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a33f50e623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99e09d640e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99e09d640e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99e09d640e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99e09d640e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4200"/>
              <a:t>BUSI 246 - Data Analysis Project</a:t>
            </a:r>
            <a:endParaRPr sz="4200"/>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S&amp;P 500 and its 11 underlying industries within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nvSpPr>
        <p:spPr>
          <a:xfrm>
            <a:off x="574600" y="435575"/>
            <a:ext cx="1992600" cy="93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rPr>
              <a:t>Intro</a:t>
            </a:r>
            <a:endParaRPr sz="2400">
              <a:solidFill>
                <a:schemeClr val="dk1"/>
              </a:solidFill>
            </a:endParaRPr>
          </a:p>
        </p:txBody>
      </p:sp>
      <p:sp>
        <p:nvSpPr>
          <p:cNvPr id="61" name="Google Shape;61;p14"/>
          <p:cNvSpPr txBox="1"/>
          <p:nvPr/>
        </p:nvSpPr>
        <p:spPr>
          <a:xfrm>
            <a:off x="574600" y="1408675"/>
            <a:ext cx="7655100" cy="299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For our project we looked at the closing </a:t>
            </a:r>
            <a:r>
              <a:rPr lang="en" sz="1800">
                <a:solidFill>
                  <a:schemeClr val="dk2"/>
                </a:solidFill>
              </a:rPr>
              <a:t>price</a:t>
            </a:r>
            <a:r>
              <a:rPr lang="en" sz="1800">
                <a:solidFill>
                  <a:schemeClr val="dk2"/>
                </a:solidFill>
              </a:rPr>
              <a:t> of the S&amp;P 500 and compared it to the 11 different industries within the index</a:t>
            </a:r>
            <a:r>
              <a:rPr lang="en" sz="1800">
                <a:solidFill>
                  <a:schemeClr val="dk2"/>
                </a:solidFill>
              </a:rPr>
              <a:t>. We took a sample of data starting on January 5, 2024 and ending on October 3, 2025. </a:t>
            </a:r>
            <a:endParaRPr sz="1800">
              <a:solidFill>
                <a:schemeClr val="dk2"/>
              </a:solidFill>
            </a:endParaRPr>
          </a:p>
          <a:p>
            <a:pPr indent="0" lvl="0" marL="0" rtl="0" algn="l">
              <a:spcBef>
                <a:spcPts val="0"/>
              </a:spcBef>
              <a:spcAft>
                <a:spcPts val="0"/>
              </a:spcAft>
              <a:buNone/>
            </a:pPr>
            <a:r>
              <a:rPr lang="en" sz="1800">
                <a:solidFill>
                  <a:schemeClr val="dk2"/>
                </a:solidFill>
              </a:rPr>
              <a:t>We looked at descriptive statistics, correlation, and ANOVA. </a:t>
            </a:r>
            <a:endParaRPr sz="1800">
              <a:solidFill>
                <a:schemeClr val="dk2"/>
              </a:solidFill>
            </a:endParaRPr>
          </a:p>
          <a:p>
            <a:pPr indent="0" lvl="0" marL="0" rtl="0" algn="l">
              <a:spcBef>
                <a:spcPts val="0"/>
              </a:spcBef>
              <a:spcAft>
                <a:spcPts val="0"/>
              </a:spcAft>
              <a:buNone/>
            </a:pPr>
            <a:r>
              <a:rPr lang="en" sz="1800">
                <a:solidFill>
                  <a:schemeClr val="dk2"/>
                </a:solidFill>
              </a:rPr>
              <a:t>Finally, we made a hypothetical chart showing what would have happen if someone invested $100 into each of the industries starting January 5, 2024. </a:t>
            </a:r>
            <a:endParaRPr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Variables and research questions</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1500"/>
              <a:t>Variables: </a:t>
            </a:r>
            <a:endParaRPr sz="1500"/>
          </a:p>
          <a:p>
            <a:pPr indent="-323850" lvl="0" marL="457200" rtl="0" algn="l">
              <a:spcBef>
                <a:spcPts val="1200"/>
              </a:spcBef>
              <a:spcAft>
                <a:spcPts val="0"/>
              </a:spcAft>
              <a:buSzPts val="1500"/>
              <a:buChar char="●"/>
            </a:pPr>
            <a:r>
              <a:rPr lang="en" sz="1500"/>
              <a:t>Output - </a:t>
            </a:r>
            <a:endParaRPr sz="1500"/>
          </a:p>
          <a:p>
            <a:pPr indent="-323850" lvl="1" marL="914400" rtl="0" algn="l">
              <a:spcBef>
                <a:spcPts val="0"/>
              </a:spcBef>
              <a:spcAft>
                <a:spcPts val="0"/>
              </a:spcAft>
              <a:buSzPts val="1500"/>
              <a:buChar char="○"/>
            </a:pPr>
            <a:r>
              <a:rPr lang="en" sz="1500"/>
              <a:t>Descriptive Statistics</a:t>
            </a:r>
            <a:endParaRPr sz="1500"/>
          </a:p>
          <a:p>
            <a:pPr indent="-323850" lvl="1" marL="914400" rtl="0" algn="l">
              <a:spcBef>
                <a:spcPts val="0"/>
              </a:spcBef>
              <a:spcAft>
                <a:spcPts val="0"/>
              </a:spcAft>
              <a:buSzPts val="1500"/>
              <a:buChar char="○"/>
            </a:pPr>
            <a:r>
              <a:rPr lang="en" sz="1500"/>
              <a:t>Anova Single Factor</a:t>
            </a:r>
            <a:endParaRPr sz="1500"/>
          </a:p>
          <a:p>
            <a:pPr indent="-323850" lvl="1" marL="914400" rtl="0" algn="l">
              <a:spcBef>
                <a:spcPts val="0"/>
              </a:spcBef>
              <a:spcAft>
                <a:spcPts val="0"/>
              </a:spcAft>
              <a:buSzPts val="1500"/>
              <a:buChar char="○"/>
            </a:pPr>
            <a:r>
              <a:rPr lang="en" sz="1500"/>
              <a:t>Backtesting</a:t>
            </a:r>
            <a:endParaRPr sz="1500"/>
          </a:p>
          <a:p>
            <a:pPr indent="-323850" lvl="0" marL="457200" rtl="0" algn="l">
              <a:spcBef>
                <a:spcPts val="0"/>
              </a:spcBef>
              <a:spcAft>
                <a:spcPts val="0"/>
              </a:spcAft>
              <a:buSzPts val="1500"/>
              <a:buChar char="●"/>
            </a:pPr>
            <a:r>
              <a:rPr lang="en" sz="1500"/>
              <a:t>Input - Data from the S&amp;P 500 and the underlying indexes/industries</a:t>
            </a:r>
            <a:endParaRPr sz="1500"/>
          </a:p>
          <a:p>
            <a:pPr indent="0" lvl="0" marL="0" rtl="0" algn="l">
              <a:spcBef>
                <a:spcPts val="1200"/>
              </a:spcBef>
              <a:spcAft>
                <a:spcPts val="0"/>
              </a:spcAft>
              <a:buNone/>
            </a:pPr>
            <a:r>
              <a:rPr lang="en" sz="1500"/>
              <a:t>Research Question: How do the performance trends of individual industries within the S&amp;P 500 correlate with the overall performance of the index, and which industries have the most significant impact on the index's movements? Finally, which industry we recommend given your risk profile. </a:t>
            </a:r>
            <a:endParaRPr sz="1500"/>
          </a:p>
          <a:p>
            <a:pPr indent="0" lvl="0" marL="0" rtl="0" algn="l">
              <a:spcBef>
                <a:spcPts val="1200"/>
              </a:spcBef>
              <a:spcAft>
                <a:spcPts val="0"/>
              </a:spcAft>
              <a:buNone/>
            </a:pPr>
            <a:r>
              <a:rPr lang="en" sz="1500"/>
              <a:t> </a:t>
            </a:r>
            <a:endParaRPr sz="1500"/>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5923000" y="454725"/>
            <a:ext cx="300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t>Descriptive Statistics</a:t>
            </a:r>
            <a:endParaRPr sz="2320"/>
          </a:p>
          <a:p>
            <a:pPr indent="0" lvl="0" marL="0" rtl="0" algn="l">
              <a:spcBef>
                <a:spcPts val="0"/>
              </a:spcBef>
              <a:spcAft>
                <a:spcPts val="0"/>
              </a:spcAft>
              <a:buSzPts val="990"/>
              <a:buNone/>
            </a:pPr>
            <a:r>
              <a:t/>
            </a:r>
            <a:endParaRPr sz="2520"/>
          </a:p>
        </p:txBody>
      </p:sp>
      <p:sp>
        <p:nvSpPr>
          <p:cNvPr id="73" name="Google Shape;73;p16"/>
          <p:cNvSpPr txBox="1"/>
          <p:nvPr>
            <p:ph idx="1" type="body"/>
          </p:nvPr>
        </p:nvSpPr>
        <p:spPr>
          <a:xfrm>
            <a:off x="6014650" y="1152475"/>
            <a:ext cx="2817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100">
                <a:solidFill>
                  <a:schemeClr val="dk1"/>
                </a:solidFill>
              </a:rPr>
              <a:t>Based on the descriptive statistics, the S&amp;P 500 and Technology sectors have the highest average values, suggesting stronger overall performance for this sector. </a:t>
            </a:r>
            <a:endParaRPr sz="1100">
              <a:solidFill>
                <a:schemeClr val="dk1"/>
              </a:solidFill>
            </a:endParaRPr>
          </a:p>
          <a:p>
            <a:pPr indent="0" lvl="0" marL="0" rtl="0" algn="l">
              <a:spcBef>
                <a:spcPts val="0"/>
              </a:spcBef>
              <a:spcAft>
                <a:spcPts val="0"/>
              </a:spcAft>
              <a:buClr>
                <a:schemeClr val="dk1"/>
              </a:buClr>
              <a:buSzPts val="1100"/>
              <a:buFont typeface="Arial"/>
              <a:buNone/>
            </a:pPr>
            <a:r>
              <a:rPr lang="en" sz="1100">
                <a:solidFill>
                  <a:schemeClr val="dk1"/>
                </a:solidFill>
              </a:rPr>
              <a:t>In addition </a:t>
            </a:r>
            <a:r>
              <a:rPr lang="en" sz="1100">
                <a:solidFill>
                  <a:schemeClr val="dk1"/>
                </a:solidFill>
              </a:rPr>
              <a:t>looking</a:t>
            </a:r>
            <a:r>
              <a:rPr lang="en" sz="1100">
                <a:solidFill>
                  <a:schemeClr val="dk1"/>
                </a:solidFill>
              </a:rPr>
              <a:t> at the Standard Deviation we can see how volatile each of these indexes are. </a:t>
            </a:r>
            <a:endParaRPr sz="1100">
              <a:solidFill>
                <a:schemeClr val="dk1"/>
              </a:solidFill>
            </a:endParaRPr>
          </a:p>
          <a:p>
            <a:pPr indent="0" lvl="0" marL="0" rtl="0" algn="l">
              <a:spcBef>
                <a:spcPts val="0"/>
              </a:spcBef>
              <a:spcAft>
                <a:spcPts val="0"/>
              </a:spcAft>
              <a:buClr>
                <a:schemeClr val="dk1"/>
              </a:buClr>
              <a:buSzPts val="1100"/>
              <a:buFont typeface="Arial"/>
              <a:buNone/>
            </a:pPr>
            <a:r>
              <a:rPr lang="en" sz="1100">
                <a:solidFill>
                  <a:schemeClr val="dk1"/>
                </a:solidFill>
              </a:rPr>
              <a:t>High - </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Technology - 536</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Consumer Discretionary- 175</a:t>
            </a:r>
            <a:endParaRPr sz="1100">
              <a:solidFill>
                <a:schemeClr val="dk1"/>
              </a:solidFill>
            </a:endParaRPr>
          </a:p>
          <a:p>
            <a:pPr indent="0" lvl="0" marL="0" rtl="0" algn="l">
              <a:spcBef>
                <a:spcPts val="0"/>
              </a:spcBef>
              <a:spcAft>
                <a:spcPts val="0"/>
              </a:spcAft>
              <a:buNone/>
            </a:pPr>
            <a:r>
              <a:rPr lang="en" sz="1100">
                <a:solidFill>
                  <a:schemeClr val="dk1"/>
                </a:solidFill>
              </a:rPr>
              <a:t>Lowest - </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Real Estate - 13</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Materials - 24</a:t>
            </a:r>
            <a:endParaRPr sz="1100">
              <a:solidFill>
                <a:schemeClr val="dk1"/>
              </a:solidFill>
            </a:endParaRPr>
          </a:p>
          <a:p>
            <a:pPr indent="0" lvl="0" marL="0" rtl="0" algn="l">
              <a:spcBef>
                <a:spcPts val="0"/>
              </a:spcBef>
              <a:spcAft>
                <a:spcPts val="0"/>
              </a:spcAft>
              <a:buNone/>
            </a:pPr>
            <a:r>
              <a:t/>
            </a:r>
            <a:endParaRPr sz="1100">
              <a:solidFill>
                <a:schemeClr val="dk1"/>
              </a:solidFill>
            </a:endParaRPr>
          </a:p>
        </p:txBody>
      </p:sp>
      <p:pic>
        <p:nvPicPr>
          <p:cNvPr id="74" name="Google Shape;74;p16" title="Screenshot 2025-11-13 at 12.16.13 PM.png"/>
          <p:cNvPicPr preferRelativeResize="0"/>
          <p:nvPr/>
        </p:nvPicPr>
        <p:blipFill>
          <a:blip r:embed="rId3">
            <a:alphaModFix/>
          </a:blip>
          <a:stretch>
            <a:fillRect/>
          </a:stretch>
        </p:blipFill>
        <p:spPr>
          <a:xfrm>
            <a:off x="109802" y="0"/>
            <a:ext cx="5507796" cy="51435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688"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Price Fluctuations Over Time</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1" name="Google Shape;81;p17" title="Screenshot 2025-11-18 at 11.11.04 AM.png"/>
          <p:cNvPicPr preferRelativeResize="0"/>
          <p:nvPr/>
        </p:nvPicPr>
        <p:blipFill>
          <a:blip r:embed="rId3">
            <a:alphaModFix/>
          </a:blip>
          <a:stretch>
            <a:fillRect/>
          </a:stretch>
        </p:blipFill>
        <p:spPr>
          <a:xfrm>
            <a:off x="703700" y="509800"/>
            <a:ext cx="7736625" cy="4633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7" name="Google Shape;87;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88" name="Google Shape;88;p18"/>
          <p:cNvSpPr txBox="1"/>
          <p:nvPr/>
        </p:nvSpPr>
        <p:spPr>
          <a:xfrm>
            <a:off x="2075925" y="139000"/>
            <a:ext cx="4457700" cy="96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pic>
        <p:nvPicPr>
          <p:cNvPr id="89" name="Google Shape;89;p18"/>
          <p:cNvPicPr preferRelativeResize="0"/>
          <p:nvPr/>
        </p:nvPicPr>
        <p:blipFill>
          <a:blip r:embed="rId3">
            <a:alphaModFix/>
          </a:blip>
          <a:stretch>
            <a:fillRect/>
          </a:stretch>
        </p:blipFill>
        <p:spPr>
          <a:xfrm>
            <a:off x="0" y="59001"/>
            <a:ext cx="9143999" cy="502549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5" name="Google Shape;95;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6" name="Google Shape;96;p19"/>
          <p:cNvPicPr preferRelativeResize="0"/>
          <p:nvPr/>
        </p:nvPicPr>
        <p:blipFill>
          <a:blip r:embed="rId3">
            <a:alphaModFix/>
          </a:blip>
          <a:stretch>
            <a:fillRect/>
          </a:stretch>
        </p:blipFill>
        <p:spPr>
          <a:xfrm>
            <a:off x="0" y="192658"/>
            <a:ext cx="9144000" cy="468053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Anova Single Factor Hypothesis</a:t>
            </a:r>
            <a:endParaRPr/>
          </a:p>
        </p:txBody>
      </p:sp>
      <p:sp>
        <p:nvSpPr>
          <p:cNvPr id="102" name="Google Shape;102;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We reject the null hypothesis </a:t>
            </a:r>
            <a:r>
              <a:rPr lang="en">
                <a:solidFill>
                  <a:schemeClr val="dk1"/>
                </a:solidFill>
              </a:rPr>
              <a:t>because</a:t>
            </a:r>
            <a:r>
              <a:rPr lang="en">
                <a:solidFill>
                  <a:schemeClr val="dk1"/>
                </a:solidFill>
              </a:rPr>
              <a:t> the p-value is zero. </a:t>
            </a:r>
            <a:endParaRPr>
              <a:solidFill>
                <a:schemeClr val="dk1"/>
              </a:solidFill>
            </a:endParaRPr>
          </a:p>
          <a:p>
            <a:pPr indent="0" lvl="0" marL="0" rtl="0" algn="l">
              <a:spcBef>
                <a:spcPts val="1200"/>
              </a:spcBef>
              <a:spcAft>
                <a:spcPts val="0"/>
              </a:spcAft>
              <a:buNone/>
            </a:pPr>
            <a:r>
              <a:rPr lang="en">
                <a:solidFill>
                  <a:schemeClr val="dk1"/>
                </a:solidFill>
                <a:highlight>
                  <a:srgbClr val="FFFFFF"/>
                </a:highlight>
              </a:rPr>
              <a:t>We say that there is difference between industries. </a:t>
            </a:r>
            <a:endParaRPr>
              <a:solidFill>
                <a:schemeClr val="dk1"/>
              </a:solidFill>
              <a:highlight>
                <a:srgbClr val="FFFFFF"/>
              </a:highlight>
            </a:endParaRPr>
          </a:p>
          <a:p>
            <a:pPr indent="0" lvl="0" marL="0" rtl="0" algn="l">
              <a:spcBef>
                <a:spcPts val="1200"/>
              </a:spcBef>
              <a:spcAft>
                <a:spcPts val="0"/>
              </a:spcAft>
              <a:buNone/>
            </a:pPr>
            <a:r>
              <a:t/>
            </a:r>
            <a:endParaRPr>
              <a:solidFill>
                <a:schemeClr val="dk1"/>
              </a:solidFill>
              <a:highlight>
                <a:srgbClr val="FFFFFF"/>
              </a:highlight>
            </a:endParaRPr>
          </a:p>
          <a:p>
            <a:pPr indent="0" lvl="0" marL="0" rtl="0" algn="l">
              <a:spcBef>
                <a:spcPts val="1200"/>
              </a:spcBef>
              <a:spcAft>
                <a:spcPts val="1200"/>
              </a:spcAft>
              <a:buNone/>
            </a:pPr>
            <a:r>
              <a:rPr lang="en"/>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08" name="Google Shape;108;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9" name="Google Shape;109;p21"/>
          <p:cNvPicPr preferRelativeResize="0"/>
          <p:nvPr/>
        </p:nvPicPr>
        <p:blipFill>
          <a:blip r:embed="rId3">
            <a:alphaModFix/>
          </a:blip>
          <a:stretch>
            <a:fillRect/>
          </a:stretch>
        </p:blipFill>
        <p:spPr>
          <a:xfrm>
            <a:off x="0" y="0"/>
            <a:ext cx="9199601" cy="386310"/>
          </a:xfrm>
          <a:prstGeom prst="rect">
            <a:avLst/>
          </a:prstGeom>
          <a:noFill/>
          <a:ln>
            <a:noFill/>
          </a:ln>
        </p:spPr>
      </p:pic>
      <p:pic>
        <p:nvPicPr>
          <p:cNvPr id="110" name="Google Shape;110;p21"/>
          <p:cNvPicPr preferRelativeResize="0"/>
          <p:nvPr/>
        </p:nvPicPr>
        <p:blipFill>
          <a:blip r:embed="rId4">
            <a:alphaModFix/>
          </a:blip>
          <a:stretch>
            <a:fillRect/>
          </a:stretch>
        </p:blipFill>
        <p:spPr>
          <a:xfrm>
            <a:off x="0" y="490900"/>
            <a:ext cx="9019203" cy="4161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Industry Performance</a:t>
            </a:r>
            <a:endParaRPr/>
          </a:p>
        </p:txBody>
      </p:sp>
      <p:sp>
        <p:nvSpPr>
          <p:cNvPr id="116" name="Google Shape;116;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The previous chart shows what </a:t>
            </a:r>
            <a:r>
              <a:rPr lang="en"/>
              <a:t>happens</a:t>
            </a:r>
            <a:r>
              <a:rPr lang="en"/>
              <a:t> </a:t>
            </a:r>
            <a:r>
              <a:rPr lang="en"/>
              <a:t>when someone</a:t>
            </a:r>
            <a:r>
              <a:rPr lang="en"/>
              <a:t> put $100 into each sector on January 5, 2024. </a:t>
            </a:r>
            <a:endParaRPr/>
          </a:p>
          <a:p>
            <a:pPr indent="0" lvl="0" marL="0" rtl="0" algn="l">
              <a:spcBef>
                <a:spcPts val="1200"/>
              </a:spcBef>
              <a:spcAft>
                <a:spcPts val="0"/>
              </a:spcAft>
              <a:buNone/>
            </a:pPr>
            <a:r>
              <a:rPr lang="en"/>
              <a:t>The highest performance would be for communication </a:t>
            </a:r>
            <a:r>
              <a:rPr lang="en"/>
              <a:t>services</a:t>
            </a:r>
            <a:r>
              <a:rPr lang="en"/>
              <a:t> and technology with technology giving a 73% return and communication services giving 71% return.</a:t>
            </a:r>
            <a:endParaRPr/>
          </a:p>
          <a:p>
            <a:pPr indent="0" lvl="0" marL="0" rtl="0" algn="l">
              <a:spcBef>
                <a:spcPts val="1200"/>
              </a:spcBef>
              <a:spcAft>
                <a:spcPts val="0"/>
              </a:spcAft>
              <a:buNone/>
            </a:pPr>
            <a:r>
              <a:rPr lang="en"/>
              <a:t>Then medium performance would be finance, industrials, utilities, as well as the whole S&amp;P 500 overall. </a:t>
            </a:r>
            <a:endParaRPr/>
          </a:p>
          <a:p>
            <a:pPr indent="0" lvl="0" marL="0" rtl="0" algn="l">
              <a:spcBef>
                <a:spcPts val="1200"/>
              </a:spcBef>
              <a:spcAft>
                <a:spcPts val="1200"/>
              </a:spcAft>
              <a:buNone/>
            </a:pPr>
            <a:r>
              <a:rPr lang="en"/>
              <a:t>Finally, the lowest performing sectors are </a:t>
            </a:r>
            <a:r>
              <a:rPr lang="en"/>
              <a:t>consumer</a:t>
            </a:r>
            <a:r>
              <a:rPr lang="en"/>
              <a:t> staples, materials, energy, healthcare, and real estate.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122" name="Google Shape;122;p23"/>
          <p:cNvSpPr txBox="1"/>
          <p:nvPr>
            <p:ph idx="1" type="body"/>
          </p:nvPr>
        </p:nvSpPr>
        <p:spPr>
          <a:xfrm>
            <a:off x="311700" y="1152475"/>
            <a:ext cx="8520600" cy="3676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i="1" lang="en" sz="1300"/>
              <a:t>Research</a:t>
            </a:r>
            <a:r>
              <a:rPr i="1" lang="en" sz="1300"/>
              <a:t> Question: How do the performance trends of individual industries within the S&amp;P 500 correlate with the overall performance of the index, and which industries have the most significant impact on the index's movements? Finally, which industry we recommend given your risk profile.</a:t>
            </a:r>
            <a:endParaRPr i="1" sz="1300"/>
          </a:p>
          <a:p>
            <a:pPr indent="0" lvl="0" marL="0" rtl="0" algn="l">
              <a:spcBef>
                <a:spcPts val="1200"/>
              </a:spcBef>
              <a:spcAft>
                <a:spcPts val="0"/>
              </a:spcAft>
              <a:buNone/>
            </a:pPr>
            <a:r>
              <a:rPr lang="en" sz="1300"/>
              <a:t>As we can on the chart of </a:t>
            </a:r>
            <a:r>
              <a:rPr lang="en" sz="1300"/>
              <a:t>price</a:t>
            </a:r>
            <a:r>
              <a:rPr lang="en" sz="1300"/>
              <a:t> fluctuations, the technology industry is the one that is the most correlated to the S&amp;P 500 and the rest industries don’t fluctuate as much over time, therefore contributing less to the overall performance of the S&amp;P 500. We can agree that the S&amp;P 500 growth is highly dependent on the performance of technology companies. </a:t>
            </a:r>
            <a:endParaRPr sz="1300"/>
          </a:p>
          <a:p>
            <a:pPr indent="0" lvl="0" marL="0" rtl="0" algn="l">
              <a:spcBef>
                <a:spcPts val="1200"/>
              </a:spcBef>
              <a:spcAft>
                <a:spcPts val="0"/>
              </a:spcAft>
              <a:buNone/>
            </a:pPr>
            <a:r>
              <a:rPr lang="en" sz="1300"/>
              <a:t>Risk profile: </a:t>
            </a:r>
            <a:endParaRPr sz="1300"/>
          </a:p>
          <a:p>
            <a:pPr indent="-311150" lvl="0" marL="457200" rtl="0" algn="l">
              <a:spcBef>
                <a:spcPts val="1200"/>
              </a:spcBef>
              <a:spcAft>
                <a:spcPts val="0"/>
              </a:spcAft>
              <a:buSzPts val="1300"/>
              <a:buChar char="●"/>
            </a:pPr>
            <a:r>
              <a:rPr lang="en" sz="1300"/>
              <a:t>Low: low volatility industries such as consumer staples (outperformed other peers: materials, energy, healthcare, and real estate) </a:t>
            </a:r>
            <a:endParaRPr sz="1300"/>
          </a:p>
          <a:p>
            <a:pPr indent="-311150" lvl="0" marL="457200" rtl="0" algn="l">
              <a:spcBef>
                <a:spcPts val="0"/>
              </a:spcBef>
              <a:spcAft>
                <a:spcPts val="0"/>
              </a:spcAft>
              <a:buSzPts val="1300"/>
              <a:buChar char="●"/>
            </a:pPr>
            <a:r>
              <a:rPr lang="en" sz="1300"/>
              <a:t>Medium: medium volatility industries - finance (outperforming its other peers: industrials, utilities, S&amp;P 500) </a:t>
            </a:r>
            <a:endParaRPr sz="1300"/>
          </a:p>
          <a:p>
            <a:pPr indent="-311150" lvl="0" marL="457200" rtl="0" algn="l">
              <a:spcBef>
                <a:spcPts val="0"/>
              </a:spcBef>
              <a:spcAft>
                <a:spcPts val="0"/>
              </a:spcAft>
              <a:buSzPts val="1300"/>
              <a:buChar char="●"/>
            </a:pPr>
            <a:r>
              <a:rPr lang="en" sz="1300"/>
              <a:t>High: high risk tolerance - technology</a:t>
            </a:r>
            <a:endParaRPr sz="1300"/>
          </a:p>
          <a:p>
            <a:pPr indent="-311150" lvl="1" marL="914400" rtl="0" algn="l">
              <a:spcBef>
                <a:spcPts val="0"/>
              </a:spcBef>
              <a:spcAft>
                <a:spcPts val="0"/>
              </a:spcAft>
              <a:buSzPts val="1300"/>
              <a:buChar char="○"/>
            </a:pPr>
            <a:r>
              <a:rPr lang="en" sz="1300"/>
              <a:t>However tech performance is very close to communication services, and communication services has less volatility</a:t>
            </a:r>
            <a:endParaRPr sz="1300"/>
          </a:p>
          <a:p>
            <a:pPr indent="0" lvl="0" marL="0" rtl="0" algn="l">
              <a:spcBef>
                <a:spcPts val="1200"/>
              </a:spcBef>
              <a:spcAft>
                <a:spcPts val="1200"/>
              </a:spcAft>
              <a:buNone/>
            </a:pPr>
            <a:r>
              <a:t/>
            </a:r>
            <a:endParaRPr sz="15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